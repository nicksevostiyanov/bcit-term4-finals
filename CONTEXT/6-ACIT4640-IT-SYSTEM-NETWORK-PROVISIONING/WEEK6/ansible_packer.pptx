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1"/>
  </p:normalViewPr>
  <p:slideViewPr>
    <p:cSldViewPr>
      <p:cViewPr varScale="1">
        <p:scale>
          <a:sx n="154" d="100"/>
          <a:sy n="154" d="100"/>
        </p:scale>
        <p:origin x="568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25D4A-4A1B-5741-B1D5-0D38106379EF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F078B-567F-9B4F-8209-35C130378A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9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753237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176350"/>
            <a:ext cx="8135620" cy="141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6125" y="4778067"/>
            <a:ext cx="23062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ansible/latest/modules/modules_by_category.html" TargetMode="External"/><Relationship Id="rId2" Type="http://schemas.openxmlformats.org/officeDocument/2006/relationships/hyperlink" Target="https://docs.ansible.com/ansible/latest/modules/list_of_all_modules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://jinja.pocoo.org/docs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ansible/latest/modules/template_module.html#template-module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s://galaxy.ansib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/latest/user_guide/intro_dynamic_inventory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/latest/user_guide/playbooks_variables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serrat/company-infrastructure/tree/variables-merging-order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ansible/latest/user_guide/playbooks_conditionals.html" TargetMode="External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nsible.com/ansible/latest/user_guide/playbooks_loops.html" TargetMode="External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/latest/user_guide/playbooks_variables.html#variable-precedence-where-should-i-put-a-variable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/latest/user_guide/intro_dynamic_inventory.html#inventory-script-example-aws-ec2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-container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place.visualstudio.com/items?itemName=vscoss.vscode-ansible" TargetMode="External"/><Relationship Id="rId2" Type="http://schemas.openxmlformats.org/officeDocument/2006/relationships/hyperlink" Target="https://github.com/vermut/intellij-ansible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ansible/2.7/user_guide/playbooks_best_practices.html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sible/ansible-examples/tree/master/lamp_simple" TargetMode="External"/><Relationship Id="rId2" Type="http://schemas.openxmlformats.org/officeDocument/2006/relationships/hyperlink" Target="https://github.com/ansible/ansible-examples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cker.io/docs/builders/index.html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acker.io/intro/getting-started/install.html#precompiled-binaries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ashicorp/best-practices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xserrat/company-infrastructure" TargetMode="Externa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9576" y="865759"/>
            <a:ext cx="5563870" cy="160845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232410" marR="5080" indent="-220345">
              <a:lnSpc>
                <a:spcPts val="6220"/>
              </a:lnSpc>
              <a:spcBef>
                <a:spcPts val="225"/>
              </a:spcBef>
            </a:pPr>
            <a:r>
              <a:rPr sz="5200" spc="-10" dirty="0"/>
              <a:t>CONFIGURATION </a:t>
            </a:r>
            <a:r>
              <a:rPr sz="5200" dirty="0"/>
              <a:t>MANAGEMENT</a:t>
            </a:r>
            <a:r>
              <a:rPr sz="5200" spc="-65" dirty="0"/>
              <a:t> </a:t>
            </a:r>
            <a:r>
              <a:rPr sz="5200" spc="-50" dirty="0"/>
              <a:t>I</a:t>
            </a:r>
            <a:endParaRPr sz="5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750" y="2797175"/>
            <a:ext cx="1462824" cy="1462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4750" y="2949575"/>
            <a:ext cx="3695699" cy="1238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162340" y="3315437"/>
            <a:ext cx="574675" cy="581660"/>
            <a:chOff x="3162340" y="3315437"/>
            <a:chExt cx="574675" cy="581660"/>
          </a:xfrm>
        </p:grpSpPr>
        <p:sp>
          <p:nvSpPr>
            <p:cNvPr id="6" name="object 6"/>
            <p:cNvSpPr/>
            <p:nvPr/>
          </p:nvSpPr>
          <p:spPr>
            <a:xfrm>
              <a:off x="3167100" y="3319792"/>
              <a:ext cx="565150" cy="572770"/>
            </a:xfrm>
            <a:custGeom>
              <a:avLst/>
              <a:gdLst/>
              <a:ahLst/>
              <a:cxnLst/>
              <a:rect l="l" t="t" r="r" b="b"/>
              <a:pathLst>
                <a:path w="565150" h="572770">
                  <a:moveTo>
                    <a:pt x="564845" y="195580"/>
                  </a:moveTo>
                  <a:lnTo>
                    <a:pt x="372808" y="195580"/>
                  </a:lnTo>
                  <a:lnTo>
                    <a:pt x="372808" y="0"/>
                  </a:lnTo>
                  <a:lnTo>
                    <a:pt x="192036" y="0"/>
                  </a:lnTo>
                  <a:lnTo>
                    <a:pt x="192036" y="195580"/>
                  </a:lnTo>
                  <a:lnTo>
                    <a:pt x="0" y="195580"/>
                  </a:lnTo>
                  <a:lnTo>
                    <a:pt x="0" y="377190"/>
                  </a:lnTo>
                  <a:lnTo>
                    <a:pt x="192036" y="377190"/>
                  </a:lnTo>
                  <a:lnTo>
                    <a:pt x="192036" y="572770"/>
                  </a:lnTo>
                  <a:lnTo>
                    <a:pt x="372808" y="572770"/>
                  </a:lnTo>
                  <a:lnTo>
                    <a:pt x="372808" y="377190"/>
                  </a:lnTo>
                  <a:lnTo>
                    <a:pt x="564845" y="377190"/>
                  </a:lnTo>
                  <a:lnTo>
                    <a:pt x="564845" y="19558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67103" y="3320200"/>
              <a:ext cx="565150" cy="572135"/>
            </a:xfrm>
            <a:custGeom>
              <a:avLst/>
              <a:gdLst/>
              <a:ahLst/>
              <a:cxnLst/>
              <a:rect l="l" t="t" r="r" b="b"/>
              <a:pathLst>
                <a:path w="565150" h="572135">
                  <a:moveTo>
                    <a:pt x="0" y="195561"/>
                  </a:moveTo>
                  <a:lnTo>
                    <a:pt x="192034" y="195561"/>
                  </a:lnTo>
                  <a:lnTo>
                    <a:pt x="192034" y="0"/>
                  </a:lnTo>
                  <a:lnTo>
                    <a:pt x="372809" y="0"/>
                  </a:lnTo>
                  <a:lnTo>
                    <a:pt x="372809" y="195561"/>
                  </a:lnTo>
                  <a:lnTo>
                    <a:pt x="564843" y="195561"/>
                  </a:lnTo>
                  <a:lnTo>
                    <a:pt x="564843" y="376336"/>
                  </a:lnTo>
                  <a:lnTo>
                    <a:pt x="372809" y="376336"/>
                  </a:lnTo>
                  <a:lnTo>
                    <a:pt x="372809" y="571898"/>
                  </a:lnTo>
                  <a:lnTo>
                    <a:pt x="192034" y="571898"/>
                  </a:lnTo>
                  <a:lnTo>
                    <a:pt x="192034" y="376336"/>
                  </a:lnTo>
                  <a:lnTo>
                    <a:pt x="0" y="376336"/>
                  </a:lnTo>
                  <a:lnTo>
                    <a:pt x="0" y="19556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7937" y="1327702"/>
            <a:ext cx="2488124" cy="24880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55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Why</a:t>
            </a:r>
            <a:r>
              <a:rPr spc="-55" dirty="0"/>
              <a:t> </a:t>
            </a:r>
            <a:r>
              <a:rPr dirty="0"/>
              <a:t>do</a:t>
            </a:r>
            <a:r>
              <a:rPr spc="-55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need</a:t>
            </a:r>
            <a:r>
              <a:rPr spc="-55" dirty="0"/>
              <a:t> </a:t>
            </a:r>
            <a:r>
              <a:rPr spc="-25" dirty="0"/>
              <a:t>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54331"/>
            <a:ext cx="7983855" cy="2509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Easy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configure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provision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Human-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readable,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YAML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infrastructure.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Maintain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infrastructure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definition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version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(GIT).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documentation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infrastructure.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similar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development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environments.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105" dirty="0"/>
              <a:t> </a:t>
            </a:r>
            <a:r>
              <a:rPr dirty="0"/>
              <a:t>&gt;</a:t>
            </a:r>
            <a:r>
              <a:rPr spc="-110" dirty="0"/>
              <a:t> </a:t>
            </a:r>
            <a:r>
              <a:rPr dirty="0"/>
              <a:t>Remote</a:t>
            </a:r>
            <a:r>
              <a:rPr spc="-105" dirty="0"/>
              <a:t> </a:t>
            </a:r>
            <a:r>
              <a:rPr dirty="0"/>
              <a:t>machine</a:t>
            </a:r>
            <a:r>
              <a:rPr spc="-10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3799" y="1990331"/>
            <a:ext cx="110363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SSH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5" dirty="0"/>
              <a:t> </a:t>
            </a:r>
            <a:r>
              <a:rPr dirty="0"/>
              <a:t>&gt;</a:t>
            </a:r>
            <a:r>
              <a:rPr spc="-100" dirty="0"/>
              <a:t> </a:t>
            </a:r>
            <a:r>
              <a:rPr dirty="0"/>
              <a:t>General</a:t>
            </a:r>
            <a:r>
              <a:rPr spc="-9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595959"/>
                </a:solidFill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1350" y="1964350"/>
            <a:ext cx="2021839" cy="98742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0"/>
              </a:spcBef>
            </a:pPr>
            <a:endParaRPr sz="1400">
              <a:latin typeface="Times New Roman"/>
              <a:cs typeface="Times New Roman"/>
            </a:endParaRPr>
          </a:p>
          <a:p>
            <a:pPr marL="674370" marR="300990" indent="-365760">
              <a:lnSpc>
                <a:spcPts val="1650"/>
              </a:lnSpc>
            </a:pPr>
            <a:r>
              <a:rPr sz="1400" dirty="0">
                <a:latin typeface="Arial"/>
                <a:cs typeface="Arial"/>
              </a:rPr>
              <a:t>Ansible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Controller Machine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84662" y="1511641"/>
            <a:ext cx="1288415" cy="828040"/>
            <a:chOff x="4284662" y="1511641"/>
            <a:chExt cx="1288415" cy="828040"/>
          </a:xfrm>
        </p:grpSpPr>
        <p:sp>
          <p:nvSpPr>
            <p:cNvPr id="7" name="object 7"/>
            <p:cNvSpPr/>
            <p:nvPr/>
          </p:nvSpPr>
          <p:spPr>
            <a:xfrm>
              <a:off x="4289425" y="1539696"/>
              <a:ext cx="1242695" cy="795020"/>
            </a:xfrm>
            <a:custGeom>
              <a:avLst/>
              <a:gdLst/>
              <a:ahLst/>
              <a:cxnLst/>
              <a:rect l="l" t="t" r="r" b="b"/>
              <a:pathLst>
                <a:path w="1242695" h="795019">
                  <a:moveTo>
                    <a:pt x="0" y="794803"/>
                  </a:moveTo>
                  <a:lnTo>
                    <a:pt x="124245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3404" y="1516403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16955" y="36546"/>
                  </a:moveTo>
                  <a:lnTo>
                    <a:pt x="0" y="10040"/>
                  </a:lnTo>
                  <a:lnTo>
                    <a:pt x="44890" y="0"/>
                  </a:lnTo>
                  <a:lnTo>
                    <a:pt x="16955" y="3654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23404" y="1516403"/>
              <a:ext cx="45085" cy="36830"/>
            </a:xfrm>
            <a:custGeom>
              <a:avLst/>
              <a:gdLst/>
              <a:ahLst/>
              <a:cxnLst/>
              <a:rect l="l" t="t" r="r" b="b"/>
              <a:pathLst>
                <a:path w="45085" h="36830">
                  <a:moveTo>
                    <a:pt x="16955" y="36546"/>
                  </a:moveTo>
                  <a:lnTo>
                    <a:pt x="44890" y="0"/>
                  </a:lnTo>
                  <a:lnTo>
                    <a:pt x="0" y="10040"/>
                  </a:lnTo>
                  <a:lnTo>
                    <a:pt x="16955" y="3654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294153" y="2548019"/>
            <a:ext cx="1381125" cy="43815"/>
            <a:chOff x="4294153" y="2548019"/>
            <a:chExt cx="1381125" cy="43815"/>
          </a:xfrm>
        </p:grpSpPr>
        <p:sp>
          <p:nvSpPr>
            <p:cNvPr id="11" name="object 11"/>
            <p:cNvSpPr/>
            <p:nvPr/>
          </p:nvSpPr>
          <p:spPr>
            <a:xfrm>
              <a:off x="4298915" y="2552781"/>
              <a:ext cx="1328420" cy="18415"/>
            </a:xfrm>
            <a:custGeom>
              <a:avLst/>
              <a:gdLst/>
              <a:ahLst/>
              <a:cxnLst/>
              <a:rect l="l" t="t" r="r" b="b"/>
              <a:pathLst>
                <a:path w="1328420" h="18414">
                  <a:moveTo>
                    <a:pt x="0" y="0"/>
                  </a:moveTo>
                  <a:lnTo>
                    <a:pt x="1328255" y="1812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26956" y="25551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2"/>
                  </a:moveTo>
                  <a:lnTo>
                    <a:pt x="429" y="0"/>
                  </a:lnTo>
                  <a:lnTo>
                    <a:pt x="43435" y="16320"/>
                  </a:lnTo>
                  <a:lnTo>
                    <a:pt x="0" y="314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26956" y="255517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2"/>
                  </a:moveTo>
                  <a:lnTo>
                    <a:pt x="43435" y="16320"/>
                  </a:lnTo>
                  <a:lnTo>
                    <a:pt x="429" y="0"/>
                  </a:lnTo>
                  <a:lnTo>
                    <a:pt x="0" y="314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4294112" y="2785187"/>
            <a:ext cx="1306830" cy="715010"/>
            <a:chOff x="4294112" y="2785187"/>
            <a:chExt cx="1306830" cy="715010"/>
          </a:xfrm>
        </p:grpSpPr>
        <p:sp>
          <p:nvSpPr>
            <p:cNvPr id="15" name="object 15"/>
            <p:cNvSpPr/>
            <p:nvPr/>
          </p:nvSpPr>
          <p:spPr>
            <a:xfrm>
              <a:off x="4298874" y="2789950"/>
              <a:ext cx="1259840" cy="685165"/>
            </a:xfrm>
            <a:custGeom>
              <a:avLst/>
              <a:gdLst/>
              <a:ahLst/>
              <a:cxnLst/>
              <a:rect l="l" t="t" r="r" b="b"/>
              <a:pathLst>
                <a:path w="1259839" h="685164">
                  <a:moveTo>
                    <a:pt x="0" y="0"/>
                  </a:moveTo>
                  <a:lnTo>
                    <a:pt x="1259290" y="68460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50650" y="346073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90" y="34467"/>
                  </a:moveTo>
                  <a:lnTo>
                    <a:pt x="0" y="27643"/>
                  </a:lnTo>
                  <a:lnTo>
                    <a:pt x="15028" y="0"/>
                  </a:lnTo>
                  <a:lnTo>
                    <a:pt x="45490" y="344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550650" y="3460731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643"/>
                  </a:moveTo>
                  <a:lnTo>
                    <a:pt x="45490" y="34467"/>
                  </a:lnTo>
                  <a:lnTo>
                    <a:pt x="15028" y="0"/>
                  </a:lnTo>
                  <a:lnTo>
                    <a:pt x="0" y="2764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 rot="19620000">
            <a:off x="4689672" y="1847702"/>
            <a:ext cx="253224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b="1" spc="-25" dirty="0">
                <a:latin typeface="Arial"/>
                <a:cs typeface="Arial"/>
              </a:rPr>
              <a:t>ssh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025" y="67945"/>
            <a:ext cx="2444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5" dirty="0">
                <a:latin typeface="Arial"/>
                <a:cs typeface="Arial"/>
              </a:rPr>
              <a:t>ssh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 rot="21420000">
            <a:off x="4944083" y="2759289"/>
            <a:ext cx="254324" cy="127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sz="1000" b="1" spc="-25" dirty="0">
                <a:latin typeface="Arial"/>
                <a:cs typeface="Arial"/>
              </a:rPr>
              <a:t>ssh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98699" y="1309550"/>
            <a:ext cx="588645" cy="3321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545"/>
              </a:spcBef>
            </a:pPr>
            <a:r>
              <a:rPr sz="1200" spc="-25" dirty="0"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91085" y="1647169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10.0.2.33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86005" y="1078169"/>
            <a:ext cx="414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ubuntu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60396" y="2398496"/>
            <a:ext cx="588645" cy="3321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545"/>
              </a:spcBef>
            </a:pPr>
            <a:r>
              <a:rPr sz="1200" spc="-25" dirty="0"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752781" y="2736115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10.0.2.34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47700" y="2167116"/>
            <a:ext cx="414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ubuntu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60399" y="3487449"/>
            <a:ext cx="588645" cy="33210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69215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545"/>
              </a:spcBef>
            </a:pPr>
            <a:r>
              <a:rPr sz="1200" spc="-25" dirty="0"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52785" y="3825069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10.0.2.35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47705" y="3256070"/>
            <a:ext cx="4140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Arial"/>
                <a:cs typeface="Arial"/>
              </a:rPr>
              <a:t>ubuntu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54033" y="3500424"/>
            <a:ext cx="446405" cy="582295"/>
            <a:chOff x="3554033" y="3500424"/>
            <a:chExt cx="446405" cy="582295"/>
          </a:xfrm>
        </p:grpSpPr>
        <p:sp>
          <p:nvSpPr>
            <p:cNvPr id="31" name="object 31"/>
            <p:cNvSpPr/>
            <p:nvPr/>
          </p:nvSpPr>
          <p:spPr>
            <a:xfrm>
              <a:off x="3558795" y="3505186"/>
              <a:ext cx="436880" cy="572770"/>
            </a:xfrm>
            <a:custGeom>
              <a:avLst/>
              <a:gdLst/>
              <a:ahLst/>
              <a:cxnLst/>
              <a:rect l="l" t="t" r="r" b="b"/>
              <a:pathLst>
                <a:path w="436879" h="572770">
                  <a:moveTo>
                    <a:pt x="363748" y="572699"/>
                  </a:moveTo>
                  <a:lnTo>
                    <a:pt x="0" y="572699"/>
                  </a:lnTo>
                  <a:lnTo>
                    <a:pt x="0" y="0"/>
                  </a:lnTo>
                  <a:lnTo>
                    <a:pt x="436499" y="0"/>
                  </a:lnTo>
                  <a:lnTo>
                    <a:pt x="436499" y="499948"/>
                  </a:lnTo>
                  <a:lnTo>
                    <a:pt x="3637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922544" y="4005135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0" y="72751"/>
                  </a:moveTo>
                  <a:lnTo>
                    <a:pt x="14550" y="14550"/>
                  </a:lnTo>
                  <a:lnTo>
                    <a:pt x="72751" y="0"/>
                  </a:lnTo>
                  <a:lnTo>
                    <a:pt x="0" y="7275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558795" y="3505186"/>
              <a:ext cx="436880" cy="572770"/>
            </a:xfrm>
            <a:custGeom>
              <a:avLst/>
              <a:gdLst/>
              <a:ahLst/>
              <a:cxnLst/>
              <a:rect l="l" t="t" r="r" b="b"/>
              <a:pathLst>
                <a:path w="436879" h="572770">
                  <a:moveTo>
                    <a:pt x="363748" y="572699"/>
                  </a:moveTo>
                  <a:lnTo>
                    <a:pt x="378298" y="514498"/>
                  </a:lnTo>
                  <a:lnTo>
                    <a:pt x="436499" y="499948"/>
                  </a:lnTo>
                  <a:lnTo>
                    <a:pt x="363748" y="572699"/>
                  </a:lnTo>
                  <a:lnTo>
                    <a:pt x="0" y="572699"/>
                  </a:lnTo>
                  <a:lnTo>
                    <a:pt x="0" y="0"/>
                  </a:lnTo>
                  <a:lnTo>
                    <a:pt x="436499" y="0"/>
                  </a:lnTo>
                  <a:lnTo>
                    <a:pt x="436499" y="49994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273383" y="3052432"/>
            <a:ext cx="570230" cy="1030605"/>
            <a:chOff x="2273383" y="3052432"/>
            <a:chExt cx="570230" cy="1030605"/>
          </a:xfrm>
        </p:grpSpPr>
        <p:sp>
          <p:nvSpPr>
            <p:cNvPr id="35" name="object 35"/>
            <p:cNvSpPr/>
            <p:nvPr/>
          </p:nvSpPr>
          <p:spPr>
            <a:xfrm>
              <a:off x="2278146" y="3505186"/>
              <a:ext cx="436880" cy="572770"/>
            </a:xfrm>
            <a:custGeom>
              <a:avLst/>
              <a:gdLst/>
              <a:ahLst/>
              <a:cxnLst/>
              <a:rect l="l" t="t" r="r" b="b"/>
              <a:pathLst>
                <a:path w="436880" h="572770">
                  <a:moveTo>
                    <a:pt x="363748" y="572699"/>
                  </a:moveTo>
                  <a:lnTo>
                    <a:pt x="0" y="572699"/>
                  </a:lnTo>
                  <a:lnTo>
                    <a:pt x="0" y="0"/>
                  </a:lnTo>
                  <a:lnTo>
                    <a:pt x="436499" y="0"/>
                  </a:lnTo>
                  <a:lnTo>
                    <a:pt x="436499" y="499948"/>
                  </a:lnTo>
                  <a:lnTo>
                    <a:pt x="363748" y="572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41894" y="4005135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0" y="72751"/>
                  </a:moveTo>
                  <a:lnTo>
                    <a:pt x="14550" y="14550"/>
                  </a:lnTo>
                  <a:lnTo>
                    <a:pt x="72751" y="0"/>
                  </a:lnTo>
                  <a:lnTo>
                    <a:pt x="0" y="72751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78146" y="3091482"/>
              <a:ext cx="534035" cy="986790"/>
            </a:xfrm>
            <a:custGeom>
              <a:avLst/>
              <a:gdLst/>
              <a:ahLst/>
              <a:cxnLst/>
              <a:rect l="l" t="t" r="r" b="b"/>
              <a:pathLst>
                <a:path w="534035" h="986789">
                  <a:moveTo>
                    <a:pt x="363748" y="986404"/>
                  </a:moveTo>
                  <a:lnTo>
                    <a:pt x="378298" y="928203"/>
                  </a:lnTo>
                  <a:lnTo>
                    <a:pt x="436499" y="913652"/>
                  </a:lnTo>
                  <a:lnTo>
                    <a:pt x="363748" y="986404"/>
                  </a:lnTo>
                  <a:lnTo>
                    <a:pt x="0" y="986404"/>
                  </a:lnTo>
                  <a:lnTo>
                    <a:pt x="0" y="413704"/>
                  </a:lnTo>
                  <a:lnTo>
                    <a:pt x="436499" y="413704"/>
                  </a:lnTo>
                  <a:lnTo>
                    <a:pt x="436499" y="913652"/>
                  </a:lnTo>
                </a:path>
                <a:path w="534035" h="986789">
                  <a:moveTo>
                    <a:pt x="246603" y="374367"/>
                  </a:moveTo>
                  <a:lnTo>
                    <a:pt x="53400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99669" y="3057195"/>
              <a:ext cx="39370" cy="44450"/>
            </a:xfrm>
            <a:custGeom>
              <a:avLst/>
              <a:gdLst/>
              <a:ahLst/>
              <a:cxnLst/>
              <a:rect l="l" t="t" r="r" b="b"/>
              <a:pathLst>
                <a:path w="39369" h="44450">
                  <a:moveTo>
                    <a:pt x="24958" y="43867"/>
                  </a:moveTo>
                  <a:lnTo>
                    <a:pt x="0" y="24706"/>
                  </a:lnTo>
                  <a:lnTo>
                    <a:pt x="38801" y="0"/>
                  </a:lnTo>
                  <a:lnTo>
                    <a:pt x="24958" y="438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99669" y="3057195"/>
              <a:ext cx="39370" cy="44450"/>
            </a:xfrm>
            <a:custGeom>
              <a:avLst/>
              <a:gdLst/>
              <a:ahLst/>
              <a:cxnLst/>
              <a:rect l="l" t="t" r="r" b="b"/>
              <a:pathLst>
                <a:path w="39369" h="44450">
                  <a:moveTo>
                    <a:pt x="24958" y="43867"/>
                  </a:moveTo>
                  <a:lnTo>
                    <a:pt x="38801" y="0"/>
                  </a:lnTo>
                  <a:lnTo>
                    <a:pt x="0" y="24706"/>
                  </a:lnTo>
                  <a:lnTo>
                    <a:pt x="24958" y="438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3477203" y="4169698"/>
            <a:ext cx="600710" cy="364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71450" marR="5080" indent="-159385">
              <a:lnSpc>
                <a:spcPct val="102299"/>
              </a:lnSpc>
              <a:spcBef>
                <a:spcPts val="70"/>
              </a:spcBef>
            </a:pPr>
            <a:r>
              <a:rPr sz="1100" spc="-10" dirty="0">
                <a:latin typeface="Arial"/>
                <a:cs typeface="Arial"/>
              </a:rPr>
              <a:t>Playbook </a:t>
            </a:r>
            <a:r>
              <a:rPr sz="1100" spc="-25" dirty="0">
                <a:latin typeface="Arial"/>
                <a:cs typeface="Arial"/>
              </a:rPr>
              <a:t>web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92599" y="4133073"/>
            <a:ext cx="608330" cy="8788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065" marR="5080" algn="ctr">
              <a:lnSpc>
                <a:spcPct val="102299"/>
              </a:lnSpc>
              <a:spcBef>
                <a:spcPts val="70"/>
              </a:spcBef>
            </a:pPr>
            <a:r>
              <a:rPr sz="1100" spc="-10" dirty="0">
                <a:latin typeface="Arial"/>
                <a:cs typeface="Arial"/>
              </a:rPr>
              <a:t>Inventory 10.0.2.33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latin typeface="Arial"/>
                <a:cs typeface="Arial"/>
              </a:rPr>
              <a:t>10.0.2.34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100" spc="-10" dirty="0">
                <a:latin typeface="Arial"/>
                <a:cs typeface="Arial"/>
              </a:rPr>
              <a:t>10.0.2.35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1100" spc="-25" dirty="0">
                <a:latin typeface="Arial"/>
                <a:cs typeface="Arial"/>
              </a:rPr>
              <a:t>….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401309" y="3052707"/>
            <a:ext cx="228600" cy="302260"/>
            <a:chOff x="3401309" y="3052707"/>
            <a:chExt cx="228600" cy="302260"/>
          </a:xfrm>
        </p:grpSpPr>
        <p:sp>
          <p:nvSpPr>
            <p:cNvPr id="43" name="object 43"/>
            <p:cNvSpPr/>
            <p:nvPr/>
          </p:nvSpPr>
          <p:spPr>
            <a:xfrm>
              <a:off x="3431985" y="3092066"/>
              <a:ext cx="193675" cy="258445"/>
            </a:xfrm>
            <a:custGeom>
              <a:avLst/>
              <a:gdLst/>
              <a:ahLst/>
              <a:cxnLst/>
              <a:rect l="l" t="t" r="r" b="b"/>
              <a:pathLst>
                <a:path w="193675" h="258445">
                  <a:moveTo>
                    <a:pt x="193138" y="25785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406072" y="3057469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5" h="44450">
                  <a:moveTo>
                    <a:pt x="13321" y="44028"/>
                  </a:moveTo>
                  <a:lnTo>
                    <a:pt x="0" y="0"/>
                  </a:lnTo>
                  <a:lnTo>
                    <a:pt x="38505" y="25164"/>
                  </a:lnTo>
                  <a:lnTo>
                    <a:pt x="13321" y="4402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406072" y="3057469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5" h="44450">
                  <a:moveTo>
                    <a:pt x="38505" y="25164"/>
                  </a:moveTo>
                  <a:lnTo>
                    <a:pt x="0" y="0"/>
                  </a:lnTo>
                  <a:lnTo>
                    <a:pt x="13321" y="44028"/>
                  </a:lnTo>
                  <a:lnTo>
                    <a:pt x="38505" y="251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spc="-10" dirty="0"/>
              <a:t>Installation</a:t>
            </a:r>
            <a:r>
              <a:rPr spc="-7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Controller</a:t>
            </a:r>
            <a:r>
              <a:rPr spc="-75" dirty="0"/>
              <a:t> </a:t>
            </a:r>
            <a:r>
              <a:rPr spc="-10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820025" cy="3767454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(Jenkins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case)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Requirements: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(version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2.7)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(versions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3.5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higher)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Windows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controller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:)</a:t>
            </a:r>
            <a:endParaRPr sz="18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Ubuntu:</a:t>
            </a:r>
            <a:endParaRPr sz="1800" dirty="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24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sudo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apt-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get</a:t>
            </a:r>
            <a:r>
              <a:rPr sz="1400" spc="-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update</a:t>
            </a:r>
            <a:endParaRPr sz="1400" dirty="0">
              <a:latin typeface="Courier New"/>
              <a:cs typeface="Courier New"/>
            </a:endParaRPr>
          </a:p>
          <a:p>
            <a:pPr marL="3619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 sudo</a:t>
            </a:r>
            <a:r>
              <a:rPr sz="14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apt-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get</a:t>
            </a:r>
            <a:r>
              <a:rPr sz="1400" spc="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install</a:t>
            </a:r>
            <a:r>
              <a:rPr sz="1400" spc="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software-properties-common</a:t>
            </a:r>
            <a:endParaRPr sz="1400" dirty="0">
              <a:latin typeface="Courier New"/>
              <a:cs typeface="Courier New"/>
            </a:endParaRPr>
          </a:p>
          <a:p>
            <a:pPr marL="3619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sudo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apt-add-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repository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--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yes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--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update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ppa:ansible/ansible</a:t>
            </a:r>
            <a:endParaRPr sz="1400" dirty="0">
              <a:latin typeface="Courier New"/>
              <a:cs typeface="Courier New"/>
            </a:endParaRPr>
          </a:p>
          <a:p>
            <a:pPr marL="36195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sudo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apt-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get</a:t>
            </a:r>
            <a:r>
              <a:rPr sz="1400" spc="-1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install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 ansible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400" dirty="0">
              <a:latin typeface="Courier New"/>
              <a:cs typeface="Courier New"/>
            </a:endParaRPr>
          </a:p>
          <a:p>
            <a:pPr marL="379095" indent="-366395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Mac:</a:t>
            </a:r>
            <a:endParaRPr sz="1800" dirty="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  <a:spcBef>
                <a:spcPts val="1905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brew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install</a:t>
            </a:r>
            <a:r>
              <a:rPr sz="14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ansible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Directory</a:t>
            </a:r>
            <a:r>
              <a:rPr spc="-90" dirty="0"/>
              <a:t> </a:t>
            </a:r>
            <a:r>
              <a:rPr spc="-10" dirty="0"/>
              <a:t>Layout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575" y="1017724"/>
            <a:ext cx="4671491" cy="38209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2000" y="1017724"/>
            <a:ext cx="3637724" cy="30107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1827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Directory</a:t>
            </a:r>
            <a:r>
              <a:rPr spc="-90" dirty="0"/>
              <a:t> </a:t>
            </a:r>
            <a:r>
              <a:rPr spc="-10" dirty="0"/>
              <a:t>Layout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4162" y="1017724"/>
            <a:ext cx="4704080" cy="3825875"/>
            <a:chOff x="414162" y="1017724"/>
            <a:chExt cx="4704080" cy="38258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575" y="1017724"/>
              <a:ext cx="4671491" cy="38209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8925" y="1035674"/>
              <a:ext cx="4620260" cy="3803015"/>
            </a:xfrm>
            <a:custGeom>
              <a:avLst/>
              <a:gdLst/>
              <a:ahLst/>
              <a:cxnLst/>
              <a:rect l="l" t="t" r="r" b="b"/>
              <a:pathLst>
                <a:path w="4620260" h="3803015">
                  <a:moveTo>
                    <a:pt x="0" y="0"/>
                  </a:moveTo>
                  <a:lnTo>
                    <a:pt x="3234899" y="0"/>
                  </a:lnTo>
                  <a:lnTo>
                    <a:pt x="3234899" y="267599"/>
                  </a:lnTo>
                  <a:lnTo>
                    <a:pt x="0" y="267599"/>
                  </a:lnTo>
                  <a:lnTo>
                    <a:pt x="0" y="0"/>
                  </a:lnTo>
                  <a:close/>
                </a:path>
                <a:path w="4620260" h="3803015">
                  <a:moveTo>
                    <a:pt x="0" y="285549"/>
                  </a:moveTo>
                  <a:lnTo>
                    <a:pt x="3479399" y="285549"/>
                  </a:lnTo>
                  <a:lnTo>
                    <a:pt x="3479399" y="858249"/>
                  </a:lnTo>
                  <a:lnTo>
                    <a:pt x="0" y="858249"/>
                  </a:lnTo>
                  <a:lnTo>
                    <a:pt x="0" y="285549"/>
                  </a:lnTo>
                  <a:close/>
                </a:path>
                <a:path w="4620260" h="3803015">
                  <a:moveTo>
                    <a:pt x="0" y="1200576"/>
                  </a:moveTo>
                  <a:lnTo>
                    <a:pt x="2757899" y="1200576"/>
                  </a:lnTo>
                  <a:lnTo>
                    <a:pt x="2757899" y="1594176"/>
                  </a:lnTo>
                  <a:lnTo>
                    <a:pt x="0" y="1594176"/>
                  </a:lnTo>
                  <a:lnTo>
                    <a:pt x="0" y="1200576"/>
                  </a:lnTo>
                  <a:close/>
                </a:path>
                <a:path w="4620260" h="3803015">
                  <a:moveTo>
                    <a:pt x="0" y="1617449"/>
                  </a:moveTo>
                  <a:lnTo>
                    <a:pt x="4619699" y="1617449"/>
                  </a:lnTo>
                  <a:lnTo>
                    <a:pt x="4619699" y="3802949"/>
                  </a:lnTo>
                  <a:lnTo>
                    <a:pt x="0" y="3802949"/>
                  </a:lnTo>
                  <a:lnTo>
                    <a:pt x="0" y="1617449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237237" y="1017724"/>
            <a:ext cx="3642995" cy="3016250"/>
            <a:chOff x="5237237" y="1017724"/>
            <a:chExt cx="3642995" cy="30162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1999" y="1017724"/>
              <a:ext cx="3637724" cy="3010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41999" y="3493100"/>
              <a:ext cx="1170305" cy="535940"/>
            </a:xfrm>
            <a:custGeom>
              <a:avLst/>
              <a:gdLst/>
              <a:ahLst/>
              <a:cxnLst/>
              <a:rect l="l" t="t" r="r" b="b"/>
              <a:pathLst>
                <a:path w="1170304" h="535939">
                  <a:moveTo>
                    <a:pt x="0" y="0"/>
                  </a:moveTo>
                  <a:lnTo>
                    <a:pt x="1169999" y="0"/>
                  </a:lnTo>
                  <a:lnTo>
                    <a:pt x="1169999" y="535499"/>
                  </a:lnTo>
                  <a:lnTo>
                    <a:pt x="0" y="535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796831" y="1056070"/>
            <a:ext cx="762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inventories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65606" y="1511596"/>
            <a:ext cx="635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6881" y="2337070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playbooks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78306" y="3234220"/>
            <a:ext cx="343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roles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88406" y="3649895"/>
            <a:ext cx="356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roles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41999" y="3110450"/>
            <a:ext cx="1170305" cy="326390"/>
          </a:xfrm>
          <a:custGeom>
            <a:avLst/>
            <a:gdLst/>
            <a:ahLst/>
            <a:cxnLst/>
            <a:rect l="l" t="t" r="r" b="b"/>
            <a:pathLst>
              <a:path w="1170304" h="326389">
                <a:moveTo>
                  <a:pt x="0" y="0"/>
                </a:moveTo>
                <a:lnTo>
                  <a:pt x="1169999" y="0"/>
                </a:lnTo>
                <a:lnTo>
                  <a:pt x="1169999" y="325799"/>
                </a:lnTo>
                <a:lnTo>
                  <a:pt x="0" y="3257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88406" y="3176036"/>
            <a:ext cx="711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playbooks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11824" y="2149075"/>
            <a:ext cx="3521075" cy="572770"/>
          </a:xfrm>
          <a:prstGeom prst="rect">
            <a:avLst/>
          </a:prstGeom>
          <a:ln w="9524">
            <a:solidFill>
              <a:srgbClr val="FF0000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200">
              <a:latin typeface="Times New Roman"/>
              <a:cs typeface="Times New Roman"/>
            </a:endParaRPr>
          </a:p>
          <a:p>
            <a:pPr marL="2006600">
              <a:lnSpc>
                <a:spcPct val="100000"/>
              </a:lnSpc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77376" y="1334313"/>
            <a:ext cx="3521075" cy="572770"/>
          </a:xfrm>
          <a:prstGeom prst="rect">
            <a:avLst/>
          </a:prstGeom>
          <a:ln w="9524">
            <a:solidFill>
              <a:srgbClr val="FF0000"/>
            </a:solidFill>
          </a:ln>
        </p:spPr>
        <p:txBody>
          <a:bodyPr vert="horz" wrap="square" lIns="0" tIns="165735" rIns="0" bIns="0" rtlCol="0">
            <a:spAutoFit/>
          </a:bodyPr>
          <a:lstStyle/>
          <a:p>
            <a:pPr marL="370205" algn="ctr">
              <a:lnSpc>
                <a:spcPct val="100000"/>
              </a:lnSpc>
              <a:spcBef>
                <a:spcPts val="1305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variables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815114" y="1012962"/>
            <a:ext cx="1250950" cy="1069975"/>
            <a:chOff x="5815114" y="1012962"/>
            <a:chExt cx="1250950" cy="1069975"/>
          </a:xfrm>
        </p:grpSpPr>
        <p:sp>
          <p:nvSpPr>
            <p:cNvPr id="19" name="object 19"/>
            <p:cNvSpPr/>
            <p:nvPr/>
          </p:nvSpPr>
          <p:spPr>
            <a:xfrm>
              <a:off x="5909318" y="1017724"/>
              <a:ext cx="1151890" cy="239395"/>
            </a:xfrm>
            <a:custGeom>
              <a:avLst/>
              <a:gdLst/>
              <a:ahLst/>
              <a:cxnLst/>
              <a:rect l="l" t="t" r="r" b="b"/>
              <a:pathLst>
                <a:path w="1151890" h="239394">
                  <a:moveTo>
                    <a:pt x="1151544" y="0"/>
                  </a:moveTo>
                  <a:lnTo>
                    <a:pt x="0" y="23917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66996" y="124149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5">
                  <a:moveTo>
                    <a:pt x="45521" y="30807"/>
                  </a:moveTo>
                  <a:lnTo>
                    <a:pt x="0" y="24194"/>
                  </a:lnTo>
                  <a:lnTo>
                    <a:pt x="39122" y="0"/>
                  </a:lnTo>
                  <a:lnTo>
                    <a:pt x="45521" y="3080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866996" y="1241498"/>
              <a:ext cx="45720" cy="31115"/>
            </a:xfrm>
            <a:custGeom>
              <a:avLst/>
              <a:gdLst/>
              <a:ahLst/>
              <a:cxnLst/>
              <a:rect l="l" t="t" r="r" b="b"/>
              <a:pathLst>
                <a:path w="45720" h="31115">
                  <a:moveTo>
                    <a:pt x="39122" y="0"/>
                  </a:moveTo>
                  <a:lnTo>
                    <a:pt x="0" y="24194"/>
                  </a:lnTo>
                  <a:lnTo>
                    <a:pt x="45521" y="30807"/>
                  </a:lnTo>
                  <a:lnTo>
                    <a:pt x="39122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60213" y="1947693"/>
              <a:ext cx="298450" cy="114935"/>
            </a:xfrm>
            <a:custGeom>
              <a:avLst/>
              <a:gdLst/>
              <a:ahLst/>
              <a:cxnLst/>
              <a:rect l="l" t="t" r="r" b="b"/>
              <a:pathLst>
                <a:path w="298450" h="114935">
                  <a:moveTo>
                    <a:pt x="297968" y="0"/>
                  </a:moveTo>
                  <a:lnTo>
                    <a:pt x="0" y="114759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19876" y="204777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0" y="30216"/>
                  </a:moveTo>
                  <a:lnTo>
                    <a:pt x="34682" y="0"/>
                  </a:lnTo>
                  <a:lnTo>
                    <a:pt x="45991" y="29362"/>
                  </a:lnTo>
                  <a:lnTo>
                    <a:pt x="0" y="3021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19876" y="2047772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4682" y="0"/>
                  </a:moveTo>
                  <a:lnTo>
                    <a:pt x="0" y="30216"/>
                  </a:lnTo>
                  <a:lnTo>
                    <a:pt x="45991" y="29362"/>
                  </a:lnTo>
                  <a:lnTo>
                    <a:pt x="34682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164382" y="883435"/>
            <a:ext cx="643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inventory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6" name="object 26"/>
          <p:cNvSpPr txBox="1"/>
          <p:nvPr/>
        </p:nvSpPr>
        <p:spPr>
          <a:xfrm>
            <a:off x="6231207" y="1851722"/>
            <a:ext cx="643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inventory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Playbook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427831"/>
            <a:ext cx="732345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entry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script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configure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machine.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written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YAML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syntax.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composed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“Plays”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Playbook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20" dirty="0"/>
              <a:t>Play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665581"/>
            <a:ext cx="7973059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maps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roles.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separate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Inventories.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“tasks”.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module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00" y="1170074"/>
            <a:ext cx="3207024" cy="33225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604825" y="1170124"/>
            <a:ext cx="3646804" cy="3322954"/>
            <a:chOff x="4604825" y="1170124"/>
            <a:chExt cx="3646804" cy="332295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4825" y="1170124"/>
              <a:ext cx="3463149" cy="332252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104325" y="1290624"/>
              <a:ext cx="142240" cy="3112770"/>
            </a:xfrm>
            <a:custGeom>
              <a:avLst/>
              <a:gdLst/>
              <a:ahLst/>
              <a:cxnLst/>
              <a:rect l="l" t="t" r="r" b="b"/>
              <a:pathLst>
                <a:path w="142240" h="3112770">
                  <a:moveTo>
                    <a:pt x="0" y="0"/>
                  </a:moveTo>
                  <a:lnTo>
                    <a:pt x="55350" y="931"/>
                  </a:lnTo>
                  <a:lnTo>
                    <a:pt x="100550" y="3470"/>
                  </a:lnTo>
                  <a:lnTo>
                    <a:pt x="131025" y="7237"/>
                  </a:lnTo>
                  <a:lnTo>
                    <a:pt x="142199" y="11849"/>
                  </a:lnTo>
                  <a:lnTo>
                    <a:pt x="142199" y="1563450"/>
                  </a:lnTo>
                  <a:lnTo>
                    <a:pt x="131025" y="1568062"/>
                  </a:lnTo>
                  <a:lnTo>
                    <a:pt x="100550" y="1571829"/>
                  </a:lnTo>
                  <a:lnTo>
                    <a:pt x="55350" y="1574368"/>
                  </a:lnTo>
                  <a:lnTo>
                    <a:pt x="0" y="1575299"/>
                  </a:lnTo>
                </a:path>
                <a:path w="142240" h="3112770">
                  <a:moveTo>
                    <a:pt x="0" y="1626724"/>
                  </a:moveTo>
                  <a:lnTo>
                    <a:pt x="55350" y="1627656"/>
                  </a:lnTo>
                  <a:lnTo>
                    <a:pt x="100550" y="1630195"/>
                  </a:lnTo>
                  <a:lnTo>
                    <a:pt x="131025" y="1633962"/>
                  </a:lnTo>
                  <a:lnTo>
                    <a:pt x="142199" y="1638574"/>
                  </a:lnTo>
                  <a:lnTo>
                    <a:pt x="142199" y="3100775"/>
                  </a:lnTo>
                  <a:lnTo>
                    <a:pt x="131025" y="3105387"/>
                  </a:lnTo>
                  <a:lnTo>
                    <a:pt x="100550" y="3109154"/>
                  </a:lnTo>
                  <a:lnTo>
                    <a:pt x="55350" y="3111693"/>
                  </a:lnTo>
                  <a:lnTo>
                    <a:pt x="0" y="311262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725" y="374629"/>
            <a:ext cx="4846320" cy="800100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Playbook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Example</a:t>
            </a:r>
          </a:p>
          <a:p>
            <a:pPr marL="1280795">
              <a:lnSpc>
                <a:spcPct val="100000"/>
              </a:lnSpc>
              <a:spcBef>
                <a:spcPts val="400"/>
              </a:spcBef>
            </a:pPr>
            <a:r>
              <a:rPr sz="1100" spc="-10" dirty="0">
                <a:latin typeface="Courier New"/>
                <a:cs typeface="Courier New"/>
              </a:rPr>
              <a:t>playbook_1.yml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2087" y="4666355"/>
            <a:ext cx="186372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dirty="0">
                <a:latin typeface="Arial"/>
                <a:cs typeface="Arial"/>
              </a:rPr>
              <a:t>Playbook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Play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45575" y="4666355"/>
            <a:ext cx="1932305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45"/>
              </a:lnSpc>
            </a:pPr>
            <a:r>
              <a:rPr sz="1400" dirty="0">
                <a:latin typeface="Arial"/>
                <a:cs typeface="Arial"/>
              </a:rPr>
              <a:t>Playbook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with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two</a:t>
            </a:r>
            <a:r>
              <a:rPr sz="1400" spc="-10" dirty="0">
                <a:latin typeface="Arial"/>
                <a:cs typeface="Arial"/>
              </a:rPr>
              <a:t> Plays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8462050" y="2049288"/>
            <a:ext cx="2432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P1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62050" y="3536463"/>
            <a:ext cx="24320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"/>
                <a:cs typeface="Arial"/>
              </a:rPr>
              <a:t>P2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7654" y="981301"/>
            <a:ext cx="1198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playbook_2.yml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Playbook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Execution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868920" cy="184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type: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6195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8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Courier New"/>
                <a:cs typeface="Courier New"/>
              </a:rPr>
              <a:t>ansible-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playbook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options</a:t>
            </a:r>
            <a:r>
              <a:rPr sz="1800" b="1" dirty="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sz="1800" b="1" spc="-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playbook.yml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sz="1800" dirty="0">
                <a:solidFill>
                  <a:srgbClr val="404040"/>
                </a:solidFill>
                <a:latin typeface="Courier New"/>
                <a:cs typeface="Courier New"/>
              </a:rPr>
              <a:t>playbook2</a:t>
            </a:r>
            <a:r>
              <a:rPr sz="18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Courier New"/>
                <a:cs typeface="Courier New"/>
              </a:rPr>
              <a:t>...</a:t>
            </a:r>
            <a:r>
              <a:rPr sz="1800" b="1" spc="-20" dirty="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>
              <a:latin typeface="Courier New"/>
              <a:cs typeface="Courier New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playbook_1.yml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8625" y="3590313"/>
            <a:ext cx="64065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$</a:t>
            </a:r>
            <a:r>
              <a:rPr sz="1400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ansible-</a:t>
            </a:r>
            <a:r>
              <a:rPr sz="1400" dirty="0">
                <a:solidFill>
                  <a:srgbClr val="404040"/>
                </a:solidFill>
                <a:latin typeface="Courier New"/>
                <a:cs typeface="Courier New"/>
              </a:rPr>
              <a:t>playbook</a:t>
            </a:r>
            <a:r>
              <a:rPr sz="1400" spc="254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666666"/>
                </a:solidFill>
                <a:latin typeface="Courier New"/>
                <a:cs typeface="Courier New"/>
              </a:rPr>
              <a:t>-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i</a:t>
            </a:r>
            <a:r>
              <a:rPr sz="1400" spc="-2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666666"/>
                </a:solidFill>
                <a:latin typeface="Courier New"/>
                <a:cs typeface="Courier New"/>
              </a:rPr>
              <a:t>inventories/production</a:t>
            </a:r>
            <a:r>
              <a:rPr sz="1400" spc="36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playbook_1.yml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Modules</a:t>
            </a:r>
            <a:r>
              <a:rPr spc="-75" dirty="0"/>
              <a:t> </a:t>
            </a:r>
            <a:r>
              <a:rPr dirty="0"/>
              <a:t>(Task</a:t>
            </a:r>
            <a:r>
              <a:rPr spc="-75" dirty="0"/>
              <a:t> </a:t>
            </a:r>
            <a:r>
              <a:rPr dirty="0"/>
              <a:t>or</a:t>
            </a:r>
            <a:r>
              <a:rPr spc="-75" dirty="0"/>
              <a:t> </a:t>
            </a:r>
            <a:r>
              <a:rPr dirty="0"/>
              <a:t>Library</a:t>
            </a:r>
            <a:r>
              <a:rPr spc="-80" dirty="0"/>
              <a:t> </a:t>
            </a:r>
            <a:r>
              <a:rPr spc="-10" dirty="0"/>
              <a:t>plugins)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301230" cy="96837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Units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playbook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Simplify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readability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actions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task.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4200728"/>
            <a:ext cx="7012305" cy="598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modules: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https://docs.ansible.com/ansible/latest/modules/list_of_all_modules.html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category:</a:t>
            </a:r>
            <a:r>
              <a:rPr sz="12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https://docs.ansible.com/ansible/latest/modules/modules_by_category.html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575" y="2191485"/>
            <a:ext cx="3406299" cy="17882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Modules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spc="-10" dirty="0">
                <a:latin typeface="Courier New"/>
                <a:cs typeface="Courier New"/>
              </a:rPr>
              <a:t>template</a:t>
            </a:r>
          </a:p>
        </p:txBody>
      </p:sp>
      <p:sp>
        <p:nvSpPr>
          <p:cNvPr id="3" name="object 3">
            <a:hlinkClick r:id="rId2"/>
          </p:cNvPr>
          <p:cNvSpPr/>
          <p:nvPr/>
        </p:nvSpPr>
        <p:spPr>
          <a:xfrm>
            <a:off x="930750" y="2181175"/>
            <a:ext cx="1779270" cy="274320"/>
          </a:xfrm>
          <a:custGeom>
            <a:avLst/>
            <a:gdLst/>
            <a:ahLst/>
            <a:cxnLst/>
            <a:rect l="l" t="t" r="r" b="b"/>
            <a:pathLst>
              <a:path w="1779270" h="274319">
                <a:moveTo>
                  <a:pt x="1779091" y="274320"/>
                </a:moveTo>
                <a:lnTo>
                  <a:pt x="0" y="274320"/>
                </a:lnTo>
                <a:lnTo>
                  <a:pt x="0" y="0"/>
                </a:lnTo>
                <a:lnTo>
                  <a:pt x="1779091" y="0"/>
                </a:lnTo>
                <a:lnTo>
                  <a:pt x="1779091" y="274320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/>
              <a:t>Ansible</a:t>
            </a:r>
            <a:r>
              <a:rPr spc="-25" dirty="0"/>
              <a:t> </a:t>
            </a:r>
            <a:r>
              <a:rPr dirty="0"/>
              <a:t>module</a:t>
            </a:r>
            <a:r>
              <a:rPr spc="-25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define</a:t>
            </a:r>
            <a:r>
              <a:rPr spc="-25" dirty="0"/>
              <a:t> </a:t>
            </a:r>
            <a:r>
              <a:rPr dirty="0"/>
              <a:t>configuration</a:t>
            </a:r>
            <a:r>
              <a:rPr spc="-20" dirty="0"/>
              <a:t> </a:t>
            </a:r>
            <a:r>
              <a:rPr dirty="0"/>
              <a:t>file</a:t>
            </a:r>
            <a:r>
              <a:rPr spc="-25" dirty="0"/>
              <a:t> </a:t>
            </a:r>
            <a:r>
              <a:rPr dirty="0"/>
              <a:t>templates</a:t>
            </a:r>
            <a:r>
              <a:rPr spc="-25" dirty="0"/>
              <a:t> </a:t>
            </a:r>
            <a:r>
              <a:rPr dirty="0"/>
              <a:t>where</a:t>
            </a:r>
            <a:r>
              <a:rPr spc="-25" dirty="0"/>
              <a:t> </a:t>
            </a:r>
            <a:r>
              <a:rPr dirty="0"/>
              <a:t>we</a:t>
            </a:r>
            <a:r>
              <a:rPr spc="-2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spc="-25" dirty="0"/>
              <a:t>use </a:t>
            </a:r>
            <a:r>
              <a:rPr dirty="0"/>
              <a:t>variables</a:t>
            </a:r>
            <a:r>
              <a:rPr spc="-30" dirty="0"/>
              <a:t> </a:t>
            </a:r>
            <a:r>
              <a:rPr dirty="0"/>
              <a:t>inside</a:t>
            </a:r>
            <a:r>
              <a:rPr spc="-15" dirty="0"/>
              <a:t> </a:t>
            </a:r>
            <a:r>
              <a:rPr spc="-10" dirty="0"/>
              <a:t>them.</a:t>
            </a:r>
          </a:p>
          <a:p>
            <a:pPr marL="379095" marR="1706245" indent="-367030">
              <a:lnSpc>
                <a:spcPct val="114599"/>
              </a:lnSpc>
              <a:buChar char="●"/>
              <a:tabLst>
                <a:tab pos="379095" algn="l"/>
              </a:tabLst>
            </a:pPr>
            <a:r>
              <a:rPr dirty="0"/>
              <a:t>Templates</a:t>
            </a:r>
            <a:r>
              <a:rPr spc="-35" dirty="0"/>
              <a:t> </a:t>
            </a:r>
            <a:r>
              <a:rPr dirty="0"/>
              <a:t>are</a:t>
            </a:r>
            <a:r>
              <a:rPr spc="-25" dirty="0"/>
              <a:t> </a:t>
            </a:r>
            <a:r>
              <a:rPr dirty="0"/>
              <a:t>processed</a:t>
            </a:r>
            <a:r>
              <a:rPr spc="-25" dirty="0"/>
              <a:t> </a:t>
            </a:r>
            <a:r>
              <a:rPr dirty="0"/>
              <a:t>by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Jinja2</a:t>
            </a:r>
            <a:r>
              <a:rPr spc="-25" dirty="0"/>
              <a:t> </a:t>
            </a:r>
            <a:r>
              <a:rPr dirty="0"/>
              <a:t>templating</a:t>
            </a:r>
            <a:r>
              <a:rPr spc="-20" dirty="0"/>
              <a:t> </a:t>
            </a:r>
            <a:r>
              <a:rPr spc="-10" dirty="0"/>
              <a:t>language (</a:t>
            </a:r>
            <a:r>
              <a:rPr sz="1200" u="heavy" spc="-10" dirty="0">
                <a:solidFill>
                  <a:srgbClr val="9B59B6"/>
                </a:solidFill>
                <a:uFill>
                  <a:solidFill>
                    <a:srgbClr val="9B59B6"/>
                  </a:solidFill>
                </a:uFill>
                <a:hlinkClick r:id="rId2"/>
              </a:rPr>
              <a:t>http://jinja.pocoo.org/docs/</a:t>
            </a:r>
            <a:r>
              <a:rPr u="none" spc="-10" dirty="0"/>
              <a:t>).</a:t>
            </a:r>
            <a:endParaRPr sz="12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6165" y="2571750"/>
            <a:ext cx="3031675" cy="1804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70875" y="4564966"/>
            <a:ext cx="24790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Courier New"/>
                <a:cs typeface="Courier New"/>
              </a:rPr>
              <a:t>template_example.html.j </a:t>
            </a:r>
            <a:r>
              <a:rPr sz="1400" spc="-50" dirty="0"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14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Modules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spc="-10" dirty="0">
                <a:latin typeface="Courier New"/>
                <a:cs typeface="Courier New"/>
              </a:rPr>
              <a:t>template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411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module: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74" y="1926700"/>
            <a:ext cx="5276849" cy="21526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8524" y="4363763"/>
            <a:ext cx="69615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https://docs.ansible.com/ansible/latest/modules/template_module.html#template-module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Handlers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274" y="1183376"/>
            <a:ext cx="8138795" cy="33020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operations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change.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493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event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detect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change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machine.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made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modules.</a:t>
            </a:r>
            <a:endParaRPr sz="1800">
              <a:latin typeface="Arial"/>
              <a:cs typeface="Arial"/>
            </a:endParaRPr>
          </a:p>
          <a:p>
            <a:pPr marL="379095" marR="310515" indent="-367030">
              <a:lnSpc>
                <a:spcPct val="1493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makes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notify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about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change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actions.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“Notify”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actions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triggered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block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play.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“Notify”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actions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triggered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once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even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notified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tasks.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Handlers</a:t>
            </a:r>
            <a:r>
              <a:rPr spc="-75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600" y="1198625"/>
            <a:ext cx="3209025" cy="1420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449" y="2800125"/>
            <a:ext cx="2182100" cy="16196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8025" y="1198624"/>
            <a:ext cx="5064275" cy="311828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16525" y="4485738"/>
            <a:ext cx="1774189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New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since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Ansible</a:t>
            </a:r>
            <a:r>
              <a:rPr sz="1400" spc="-25" dirty="0">
                <a:latin typeface="Arial"/>
                <a:cs typeface="Arial"/>
              </a:rPr>
              <a:t> 2.2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82070" y="1081849"/>
            <a:ext cx="28575" cy="3634740"/>
          </a:xfrm>
          <a:custGeom>
            <a:avLst/>
            <a:gdLst/>
            <a:ahLst/>
            <a:cxnLst/>
            <a:rect l="l" t="t" r="r" b="b"/>
            <a:pathLst>
              <a:path w="28575" h="3634740">
                <a:moveTo>
                  <a:pt x="0" y="0"/>
                </a:moveTo>
                <a:lnTo>
                  <a:pt x="28499" y="36344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5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Roles</a:t>
            </a:r>
            <a:r>
              <a:rPr spc="-65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spc="-1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49590" cy="3016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load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tasks,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handlers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easy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reusing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tasks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roles.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directories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role: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executed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handlers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handlers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outside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deployed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templates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deployed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via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role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vars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defaults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overridden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variables).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meta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dependencies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directory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used,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must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least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main.yml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1775" y="1870151"/>
            <a:ext cx="1141374" cy="23528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Roles</a:t>
            </a:r>
            <a:r>
              <a:rPr spc="-85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Organizing</a:t>
            </a:r>
            <a:r>
              <a:rPr spc="-85" dirty="0"/>
              <a:t> </a:t>
            </a:r>
            <a:r>
              <a:rPr spc="-10" dirty="0"/>
              <a:t>tasks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425" y="1333650"/>
            <a:ext cx="4513499" cy="30411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0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Roles</a:t>
            </a:r>
            <a:r>
              <a:rPr spc="-55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Using</a:t>
            </a:r>
            <a:r>
              <a:rPr spc="-55" dirty="0"/>
              <a:t> </a:t>
            </a:r>
            <a:r>
              <a:rPr dirty="0"/>
              <a:t>roles</a:t>
            </a:r>
            <a:r>
              <a:rPr spc="-6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Playbook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750" y="1315775"/>
            <a:ext cx="2628899" cy="16192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65075" y="3083413"/>
            <a:ext cx="1945639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2575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Courier New"/>
                <a:cs typeface="Courier New"/>
              </a:rPr>
              <a:t>playbook.yml </a:t>
            </a:r>
            <a:r>
              <a:rPr sz="1400" dirty="0">
                <a:latin typeface="Courier New"/>
                <a:cs typeface="Courier New"/>
              </a:rPr>
              <a:t>(original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version)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8200" y="1315775"/>
            <a:ext cx="3511174" cy="25119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049361" y="4004488"/>
            <a:ext cx="205232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7973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Courier New"/>
                <a:cs typeface="Courier New"/>
              </a:rPr>
              <a:t>playbook.yml </a:t>
            </a:r>
            <a:r>
              <a:rPr sz="1400" dirty="0">
                <a:latin typeface="Courier New"/>
                <a:cs typeface="Courier New"/>
              </a:rPr>
              <a:t>(since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Ansible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2.4)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5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Roles</a:t>
            </a:r>
            <a:r>
              <a:rPr spc="-65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spc="-10" dirty="0"/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566534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Defined in the</a:t>
            </a:r>
            <a:r>
              <a:rPr sz="1800" spc="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meta/main.yml</a:t>
            </a:r>
            <a:r>
              <a:rPr sz="1800" spc="-57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file.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dependencies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needs.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dependency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before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role.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this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role.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Roles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Dependencies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650" y="1170124"/>
            <a:ext cx="2472275" cy="31477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70762" y="1170125"/>
            <a:ext cx="2362699" cy="993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42300" y="1170124"/>
            <a:ext cx="2362674" cy="13862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6500" y="4421187"/>
            <a:ext cx="78974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*Note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that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role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wheel</a:t>
            </a:r>
            <a:r>
              <a:rPr sz="1400" spc="-380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does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not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need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Courier New"/>
                <a:cs typeface="Courier New"/>
              </a:rPr>
              <a:t>allow_duplicates: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true</a:t>
            </a:r>
            <a:r>
              <a:rPr sz="1400" spc="-135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because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each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wheel</a:t>
            </a:r>
            <a:r>
              <a:rPr sz="1400" spc="-380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has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500" y="4630737"/>
            <a:ext cx="1852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different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parameter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(</a:t>
            </a:r>
            <a:r>
              <a:rPr sz="1400" spc="-20" dirty="0">
                <a:latin typeface="Courier New"/>
                <a:cs typeface="Courier New"/>
              </a:rPr>
              <a:t>n</a:t>
            </a:r>
            <a:r>
              <a:rPr sz="1400" spc="-20" dirty="0">
                <a:latin typeface="Arial"/>
                <a:cs typeface="Arial"/>
              </a:rPr>
              <a:t>).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22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5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Ansible</a:t>
            </a:r>
            <a:r>
              <a:rPr spc="-95" dirty="0"/>
              <a:t> </a:t>
            </a:r>
            <a:r>
              <a:rPr spc="-10" dirty="0"/>
              <a:t>Galaxy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4773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Open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source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platform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roles.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7025" y="4485188"/>
            <a:ext cx="29857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See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more: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https://galaxy.ansible.com/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699" y="1775051"/>
            <a:ext cx="4473377" cy="26145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6402" y="2149389"/>
            <a:ext cx="3767971" cy="172773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5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Galaxy</a:t>
            </a:r>
            <a:r>
              <a:rPr spc="-90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Install</a:t>
            </a:r>
            <a:r>
              <a:rPr spc="-95" dirty="0"/>
              <a:t> </a:t>
            </a:r>
            <a:r>
              <a:rPr dirty="0"/>
              <a:t>external</a:t>
            </a:r>
            <a:r>
              <a:rPr spc="-90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718425" cy="2511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project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needs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Galaxy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source,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using:</a:t>
            </a:r>
            <a:endParaRPr sz="1800">
              <a:latin typeface="Arial"/>
              <a:cs typeface="Arial"/>
            </a:endParaRPr>
          </a:p>
          <a:p>
            <a:pPr marL="1146810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$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 ansible-</a:t>
            </a: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galaxy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install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 username.role_name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Courier New"/>
              <a:cs typeface="Courier New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together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requirements.yml</a:t>
            </a:r>
            <a:r>
              <a:rPr sz="1800" spc="-4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file:</a:t>
            </a:r>
            <a:endParaRPr sz="1800">
              <a:latin typeface="Arial"/>
              <a:cs typeface="Arial"/>
            </a:endParaRPr>
          </a:p>
          <a:p>
            <a:pPr marL="1135380">
              <a:lnSpc>
                <a:spcPct val="100000"/>
              </a:lnSpc>
              <a:spcBef>
                <a:spcPts val="1889"/>
              </a:spcBef>
            </a:pP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$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 ansible-</a:t>
            </a: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galaxy</a:t>
            </a:r>
            <a:r>
              <a:rPr sz="1800" spc="-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install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 -</a:t>
            </a:r>
            <a:r>
              <a:rPr sz="1800" dirty="0">
                <a:solidFill>
                  <a:srgbClr val="032F62"/>
                </a:solidFill>
                <a:latin typeface="Courier New"/>
                <a:cs typeface="Courier New"/>
              </a:rPr>
              <a:t>r</a:t>
            </a:r>
            <a:r>
              <a:rPr sz="1800" spc="-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032F62"/>
                </a:solidFill>
                <a:latin typeface="Courier New"/>
                <a:cs typeface="Courier New"/>
              </a:rPr>
              <a:t>requirements.yml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249" y="1216355"/>
            <a:ext cx="5521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requirements.yml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following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aspect: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5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Galaxy</a:t>
            </a:r>
            <a:r>
              <a:rPr spc="-90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Install</a:t>
            </a:r>
            <a:r>
              <a:rPr spc="-95" dirty="0"/>
              <a:t> </a:t>
            </a:r>
            <a:r>
              <a:rPr dirty="0"/>
              <a:t>external</a:t>
            </a:r>
            <a:r>
              <a:rPr spc="-90" dirty="0"/>
              <a:t> </a:t>
            </a:r>
            <a:r>
              <a:rPr spc="-10" dirty="0"/>
              <a:t>roles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5162" y="1624375"/>
            <a:ext cx="4413674" cy="28832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73075" y="4717265"/>
            <a:ext cx="1732280" cy="2273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45"/>
              </a:lnSpc>
            </a:pPr>
            <a:r>
              <a:rPr sz="1400" spc="-10" dirty="0">
                <a:latin typeface="Courier New"/>
                <a:cs typeface="Courier New"/>
              </a:rPr>
              <a:t>requirements.yml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5" dirty="0"/>
              <a:t> </a:t>
            </a:r>
            <a:r>
              <a:rPr dirty="0"/>
              <a:t>Gather</a:t>
            </a:r>
            <a:r>
              <a:rPr spc="-80" dirty="0"/>
              <a:t> </a:t>
            </a:r>
            <a:r>
              <a:rPr spc="-10" dirty="0"/>
              <a:t>facts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218388"/>
            <a:ext cx="5081270" cy="65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ts val="1664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playbooks.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ts val="1650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performed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very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beginning.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ts val="1664"/>
              </a:lnSpc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collect:</a:t>
            </a:r>
            <a:r>
              <a:rPr sz="1400" spc="4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ansible</a:t>
            </a:r>
            <a:r>
              <a:rPr sz="1400" spc="-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127.0.0.1</a:t>
            </a:r>
            <a:r>
              <a:rPr sz="1400" spc="-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-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m</a:t>
            </a:r>
            <a:r>
              <a:rPr sz="1400" spc="-2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setup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00295" y="4487598"/>
            <a:ext cx="27990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_bootstrap_for_ansible.yml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2897" y="2190175"/>
            <a:ext cx="3743073" cy="205604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Inventories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07656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inventory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place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listed.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work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systems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time.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2013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There’s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inventory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retrieve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need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provision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them*.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4193988"/>
            <a:ext cx="630872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"/>
                <a:cs typeface="Arial"/>
              </a:rPr>
              <a:t>*More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info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about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Dynamic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inventories: 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https://docs.ansible.com/ansible/latest/user_guide/intro_dynamic_inventory.html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Inventories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Hosts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071359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inventory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files.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classify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groups.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150" y="2148775"/>
            <a:ext cx="2228225" cy="21996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09475" y="2174287"/>
            <a:ext cx="2228224" cy="214863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53450" y="4507163"/>
            <a:ext cx="804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INI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4950800" y="4535638"/>
            <a:ext cx="1061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YAML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Inventories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Hosts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/>
              <a:t>By</a:t>
            </a:r>
            <a:r>
              <a:rPr spc="-25" dirty="0"/>
              <a:t> </a:t>
            </a:r>
            <a:r>
              <a:rPr dirty="0"/>
              <a:t>default,</a:t>
            </a:r>
            <a:r>
              <a:rPr spc="-20" dirty="0"/>
              <a:t> </a:t>
            </a:r>
            <a:r>
              <a:rPr dirty="0"/>
              <a:t>Ansible</a:t>
            </a:r>
            <a:r>
              <a:rPr spc="-20" dirty="0"/>
              <a:t> </a:t>
            </a:r>
            <a:r>
              <a:rPr dirty="0"/>
              <a:t>tries</a:t>
            </a:r>
            <a:r>
              <a:rPr spc="-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connect</a:t>
            </a:r>
            <a:r>
              <a:rPr spc="-20" dirty="0"/>
              <a:t> </a:t>
            </a:r>
            <a:r>
              <a:rPr dirty="0"/>
              <a:t>via</a:t>
            </a:r>
            <a:r>
              <a:rPr spc="-20" dirty="0"/>
              <a:t> </a:t>
            </a:r>
            <a:r>
              <a:rPr dirty="0"/>
              <a:t>SSH</a:t>
            </a:r>
            <a:r>
              <a:rPr spc="-20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standard</a:t>
            </a:r>
            <a:r>
              <a:rPr spc="-20" dirty="0"/>
              <a:t> </a:t>
            </a:r>
            <a:r>
              <a:rPr dirty="0"/>
              <a:t>port</a:t>
            </a:r>
            <a:r>
              <a:rPr spc="-20" dirty="0"/>
              <a:t> </a:t>
            </a:r>
            <a:r>
              <a:rPr dirty="0"/>
              <a:t>22.</a:t>
            </a:r>
            <a:r>
              <a:rPr spc="-20" dirty="0"/>
              <a:t> </a:t>
            </a:r>
            <a:r>
              <a:rPr dirty="0"/>
              <a:t>If</a:t>
            </a:r>
            <a:r>
              <a:rPr spc="-20" dirty="0"/>
              <a:t> </a:t>
            </a:r>
            <a:r>
              <a:rPr spc="-25" dirty="0"/>
              <a:t>the </a:t>
            </a:r>
            <a:r>
              <a:rPr dirty="0"/>
              <a:t>remote</a:t>
            </a:r>
            <a:r>
              <a:rPr spc="-25" dirty="0"/>
              <a:t> </a:t>
            </a:r>
            <a:r>
              <a:rPr dirty="0"/>
              <a:t>machine</a:t>
            </a:r>
            <a:r>
              <a:rPr spc="-15" dirty="0"/>
              <a:t> </a:t>
            </a:r>
            <a:r>
              <a:rPr dirty="0"/>
              <a:t>uses</a:t>
            </a:r>
            <a:r>
              <a:rPr spc="-15" dirty="0"/>
              <a:t> </a:t>
            </a:r>
            <a:r>
              <a:rPr dirty="0"/>
              <a:t>another</a:t>
            </a:r>
            <a:r>
              <a:rPr spc="-15" dirty="0"/>
              <a:t> </a:t>
            </a:r>
            <a:r>
              <a:rPr dirty="0"/>
              <a:t>one,</a:t>
            </a:r>
            <a:r>
              <a:rPr spc="-10" dirty="0"/>
              <a:t> </a:t>
            </a:r>
            <a:r>
              <a:rPr dirty="0"/>
              <a:t>we</a:t>
            </a:r>
            <a:r>
              <a:rPr spc="-15" dirty="0"/>
              <a:t> </a:t>
            </a:r>
            <a:r>
              <a:rPr dirty="0"/>
              <a:t>need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specify</a:t>
            </a:r>
            <a:r>
              <a:rPr spc="-10" dirty="0"/>
              <a:t> </a:t>
            </a:r>
            <a:r>
              <a:rPr dirty="0"/>
              <a:t>it</a:t>
            </a:r>
            <a:r>
              <a:rPr spc="-15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inventory</a:t>
            </a:r>
            <a:r>
              <a:rPr spc="-10" dirty="0"/>
              <a:t> file:</a:t>
            </a:r>
          </a:p>
          <a:p>
            <a:pPr marL="126364" algn="ctr">
              <a:lnSpc>
                <a:spcPct val="100000"/>
              </a:lnSpc>
              <a:spcBef>
                <a:spcPts val="1905"/>
              </a:spcBef>
            </a:pPr>
            <a:r>
              <a:rPr sz="1400" spc="-10" dirty="0">
                <a:solidFill>
                  <a:srgbClr val="404040"/>
                </a:solidFill>
                <a:latin typeface="Courier New"/>
                <a:cs typeface="Courier New"/>
              </a:rPr>
              <a:t>badwolf.example.com:5309</a:t>
            </a:r>
            <a:endParaRPr sz="1400">
              <a:latin typeface="Courier New"/>
              <a:cs typeface="Courier New"/>
            </a:endParaRPr>
          </a:p>
          <a:p>
            <a:pPr marL="379095" indent="-366395">
              <a:lnSpc>
                <a:spcPct val="100000"/>
              </a:lnSpc>
              <a:spcBef>
                <a:spcPts val="254"/>
              </a:spcBef>
              <a:buChar char="●"/>
              <a:tabLst>
                <a:tab pos="379095" algn="l"/>
              </a:tabLst>
            </a:pPr>
            <a:r>
              <a:rPr dirty="0"/>
              <a:t>We</a:t>
            </a:r>
            <a:r>
              <a:rPr spc="-35" dirty="0"/>
              <a:t> </a:t>
            </a:r>
            <a:r>
              <a:rPr dirty="0"/>
              <a:t>can</a:t>
            </a:r>
            <a:r>
              <a:rPr spc="-20" dirty="0"/>
              <a:t> </a:t>
            </a:r>
            <a:r>
              <a:rPr dirty="0"/>
              <a:t>define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connection</a:t>
            </a:r>
            <a:r>
              <a:rPr spc="-20" dirty="0"/>
              <a:t> </a:t>
            </a:r>
            <a:r>
              <a:rPr dirty="0"/>
              <a:t>type</a:t>
            </a:r>
            <a:r>
              <a:rPr spc="-20" dirty="0"/>
              <a:t> </a:t>
            </a:r>
            <a:r>
              <a:rPr dirty="0"/>
              <a:t>for</a:t>
            </a:r>
            <a:r>
              <a:rPr spc="-25" dirty="0"/>
              <a:t> </a:t>
            </a:r>
            <a:r>
              <a:rPr dirty="0"/>
              <a:t>each</a:t>
            </a:r>
            <a:r>
              <a:rPr spc="-20" dirty="0"/>
              <a:t> </a:t>
            </a:r>
            <a:r>
              <a:rPr dirty="0"/>
              <a:t>host</a:t>
            </a:r>
            <a:r>
              <a:rPr spc="-20" dirty="0"/>
              <a:t> </a:t>
            </a:r>
            <a:r>
              <a:rPr dirty="0"/>
              <a:t>using</a:t>
            </a:r>
            <a:r>
              <a:rPr spc="10" dirty="0"/>
              <a:t> </a:t>
            </a:r>
            <a:r>
              <a:rPr i="1" dirty="0">
                <a:latin typeface="Arial"/>
                <a:cs typeface="Arial"/>
              </a:rPr>
              <a:t>host</a:t>
            </a:r>
            <a:r>
              <a:rPr i="1" spc="-20" dirty="0">
                <a:latin typeface="Arial"/>
                <a:cs typeface="Arial"/>
              </a:rPr>
              <a:t> </a:t>
            </a:r>
            <a:r>
              <a:rPr i="1" spc="-10" dirty="0">
                <a:latin typeface="Arial"/>
                <a:cs typeface="Arial"/>
              </a:rPr>
              <a:t>variables</a:t>
            </a:r>
            <a:r>
              <a:rPr spc="-10" dirty="0"/>
              <a:t>*: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887" y="2771422"/>
            <a:ext cx="5686224" cy="9201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3425" y="4212988"/>
            <a:ext cx="73831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*Variables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defined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inventory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file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INI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format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be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always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interpreted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as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STRING.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Inventories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Hosts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393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per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group: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800" y="2140975"/>
            <a:ext cx="3584374" cy="1484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3875" y="2140975"/>
            <a:ext cx="3890891" cy="1484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77812" y="3814412"/>
            <a:ext cx="8045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INI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035150" y="3814412"/>
            <a:ext cx="1061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YAML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Inventories</a:t>
            </a:r>
            <a:r>
              <a:rPr spc="-80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Hosts</a:t>
            </a:r>
            <a:r>
              <a:rPr spc="-80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Groups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825" y="1246449"/>
            <a:ext cx="2266349" cy="26505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8900" y="1240637"/>
            <a:ext cx="3073051" cy="2662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4250" y="4070613"/>
            <a:ext cx="5905500" cy="675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8990">
              <a:lnSpc>
                <a:spcPct val="100000"/>
              </a:lnSpc>
              <a:spcBef>
                <a:spcPts val="100"/>
              </a:spcBef>
              <a:tabLst>
                <a:tab pos="4855845" algn="l"/>
              </a:tabLst>
            </a:pPr>
            <a:r>
              <a:rPr sz="1400" dirty="0">
                <a:latin typeface="Arial"/>
                <a:cs typeface="Arial"/>
              </a:rPr>
              <a:t>INI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r>
              <a:rPr sz="1400" dirty="0">
                <a:latin typeface="Arial"/>
                <a:cs typeface="Arial"/>
              </a:rPr>
              <a:t>	YAML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format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Arial"/>
                <a:cs typeface="Arial"/>
              </a:rPr>
              <a:t>Note: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child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group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variable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will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override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parent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group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variable.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90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Inventories</a:t>
            </a:r>
            <a:r>
              <a:rPr spc="-90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Default</a:t>
            </a:r>
            <a:r>
              <a:rPr spc="-90" dirty="0"/>
              <a:t> </a:t>
            </a:r>
            <a:r>
              <a:rPr spc="-10" dirty="0"/>
              <a:t>Groups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2111081"/>
            <a:ext cx="7995920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Every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Courier New"/>
                <a:cs typeface="Courier New"/>
              </a:rPr>
              <a:t>all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belongs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all</a:t>
            </a:r>
            <a:r>
              <a:rPr sz="1800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ungrouped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512684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should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start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letter.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letters,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numbers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underscores.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Definition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referencing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variables:</a:t>
            </a:r>
            <a:endParaRPr sz="1800">
              <a:latin typeface="Arial"/>
              <a:cs typeface="Arial"/>
            </a:endParaRPr>
          </a:p>
          <a:p>
            <a:pPr marL="948690">
              <a:lnSpc>
                <a:spcPct val="100000"/>
              </a:lnSpc>
              <a:spcBef>
                <a:spcPts val="1220"/>
              </a:spcBef>
            </a:pPr>
            <a:r>
              <a:rPr sz="900" spc="-20" dirty="0">
                <a:solidFill>
                  <a:srgbClr val="228639"/>
                </a:solidFill>
                <a:latin typeface="Courier New"/>
                <a:cs typeface="Courier New"/>
              </a:rPr>
              <a:t>foo</a:t>
            </a:r>
            <a:r>
              <a:rPr sz="900" b="1" spc="-20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981583"/>
            <a:ext cx="7259955" cy="166814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525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in:</a:t>
            </a:r>
            <a:endParaRPr sz="1800">
              <a:latin typeface="Arial"/>
              <a:cs typeface="Arial"/>
            </a:endParaRPr>
          </a:p>
          <a:p>
            <a:pPr marL="926465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Inventories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(per host or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group) and splitted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group_vars</a:t>
            </a:r>
            <a:r>
              <a:rPr sz="1400" spc="-3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host_vars</a:t>
            </a:r>
            <a:r>
              <a:rPr sz="1400" spc="-31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files.</a:t>
            </a:r>
            <a:endParaRPr sz="1400">
              <a:latin typeface="Arial"/>
              <a:cs typeface="Arial"/>
            </a:endParaRPr>
          </a:p>
          <a:p>
            <a:pPr marL="926465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Playbooks</a:t>
            </a:r>
            <a:endParaRPr sz="1400">
              <a:latin typeface="Arial"/>
              <a:cs typeface="Arial"/>
            </a:endParaRPr>
          </a:p>
          <a:p>
            <a:pPr marL="926465" lvl="1" indent="-335915">
              <a:lnSpc>
                <a:spcPct val="100000"/>
              </a:lnSpc>
              <a:spcBef>
                <a:spcPts val="270"/>
              </a:spcBef>
              <a:buChar char="○"/>
              <a:tabLst>
                <a:tab pos="926465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Roles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https://docs.ansible.com/ansible/latest/user_guide/playbooks_variables.html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8682" y="2411963"/>
            <a:ext cx="780415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dirty="0">
                <a:solidFill>
                  <a:srgbClr val="228639"/>
                </a:solidFill>
                <a:latin typeface="Courier New"/>
                <a:cs typeface="Courier New"/>
              </a:rPr>
              <a:t>field1</a:t>
            </a:r>
            <a:r>
              <a:rPr sz="900" b="1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r>
              <a:rPr sz="900" b="1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032F62"/>
                </a:solidFill>
                <a:latin typeface="Courier New"/>
                <a:cs typeface="Courier New"/>
              </a:rPr>
              <a:t>one </a:t>
            </a:r>
            <a:r>
              <a:rPr sz="900" dirty="0">
                <a:solidFill>
                  <a:srgbClr val="228639"/>
                </a:solidFill>
                <a:latin typeface="Courier New"/>
                <a:cs typeface="Courier New"/>
              </a:rPr>
              <a:t>field2</a:t>
            </a:r>
            <a:r>
              <a:rPr sz="900" b="1" dirty="0">
                <a:solidFill>
                  <a:srgbClr val="404040"/>
                </a:solidFill>
                <a:latin typeface="Courier New"/>
                <a:cs typeface="Courier New"/>
              </a:rPr>
              <a:t>:</a:t>
            </a:r>
            <a:r>
              <a:rPr sz="900" b="1" spc="-2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900" spc="-25" dirty="0">
                <a:solidFill>
                  <a:srgbClr val="032F62"/>
                </a:solidFill>
                <a:latin typeface="Courier New"/>
                <a:cs typeface="Courier New"/>
              </a:rPr>
              <a:t>two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6925" y="2367788"/>
            <a:ext cx="916940" cy="349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sz="900" spc="-10" dirty="0">
                <a:solidFill>
                  <a:srgbClr val="032F62"/>
                </a:solidFill>
                <a:latin typeface="Courier New"/>
                <a:cs typeface="Courier New"/>
              </a:rPr>
              <a:t>foo['field1'] foo.field1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Inventories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218388"/>
            <a:ext cx="7372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define variables directly in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inventory files or in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group_vars</a:t>
            </a:r>
            <a:r>
              <a:rPr sz="1400" spc="-30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host_vars</a:t>
            </a:r>
            <a:r>
              <a:rPr sz="1400" spc="-31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files.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2387" y="1622775"/>
            <a:ext cx="7564120" cy="3037205"/>
            <a:chOff x="792387" y="1622775"/>
            <a:chExt cx="7564120" cy="3037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7500" y="1622775"/>
              <a:ext cx="3960147" cy="30367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62706" y="1622775"/>
              <a:ext cx="3083794" cy="23928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7149" y="1869499"/>
              <a:ext cx="7554595" cy="474980"/>
            </a:xfrm>
            <a:custGeom>
              <a:avLst/>
              <a:gdLst/>
              <a:ahLst/>
              <a:cxnLst/>
              <a:rect l="l" t="t" r="r" b="b"/>
              <a:pathLst>
                <a:path w="7554595" h="474980">
                  <a:moveTo>
                    <a:pt x="0" y="0"/>
                  </a:moveTo>
                  <a:lnTo>
                    <a:pt x="7553999" y="0"/>
                  </a:lnTo>
                  <a:lnTo>
                    <a:pt x="7553999" y="474599"/>
                  </a:lnTo>
                  <a:lnTo>
                    <a:pt x="0" y="4745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82125" y="4706429"/>
            <a:ext cx="13493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Directory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layouts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34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Inventories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85851"/>
            <a:ext cx="7919720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named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example.com</a:t>
            </a:r>
            <a:r>
              <a:rPr sz="1800" spc="-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related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file: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3043226"/>
            <a:ext cx="8176259" cy="159702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located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host_vars/example.com</a:t>
            </a:r>
            <a:r>
              <a:rPr sz="1800" spc="-4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host_vars/example.com.yml</a:t>
            </a:r>
            <a:r>
              <a:rPr sz="1800" spc="-13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 marL="379095" marR="615315" indent="-367030">
              <a:lnSpc>
                <a:spcPct val="1145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also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organize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files.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Following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previous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host_vars/example.com/php.yml</a:t>
            </a:r>
            <a:endParaRPr sz="1800">
              <a:latin typeface="Courier New"/>
              <a:cs typeface="Courier New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groups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logic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5" y="4654856"/>
            <a:ext cx="4241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another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main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folder: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group_vars/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696" y="1924900"/>
            <a:ext cx="1334024" cy="875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35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5" dirty="0"/>
              <a:t> </a:t>
            </a:r>
            <a:r>
              <a:rPr dirty="0"/>
              <a:t>Variables</a:t>
            </a:r>
            <a:r>
              <a:rPr spc="-75" dirty="0"/>
              <a:t> </a:t>
            </a:r>
            <a:r>
              <a:rPr dirty="0"/>
              <a:t>&gt;</a:t>
            </a:r>
            <a:r>
              <a:rPr spc="-85" dirty="0"/>
              <a:t> </a:t>
            </a:r>
            <a:r>
              <a:rPr dirty="0"/>
              <a:t>How</a:t>
            </a:r>
            <a:r>
              <a:rPr spc="-80" dirty="0"/>
              <a:t> </a:t>
            </a: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use</a:t>
            </a:r>
            <a:r>
              <a:rPr spc="-80" dirty="0"/>
              <a:t> </a:t>
            </a:r>
            <a:r>
              <a:rPr spc="-20" dirty="0"/>
              <a:t>them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993" y="1184098"/>
            <a:ext cx="7885430" cy="25019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3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playbook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executed,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maps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level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host.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merge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needed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provision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host.</a:t>
            </a:r>
            <a:endParaRPr sz="1400">
              <a:latin typeface="Arial"/>
              <a:cs typeface="Arial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Char char="●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merge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is:</a:t>
            </a:r>
            <a:endParaRPr sz="1400">
              <a:latin typeface="Arial"/>
              <a:cs typeface="Arial"/>
            </a:endParaRPr>
          </a:p>
          <a:p>
            <a:pPr marL="805180" lvl="1" indent="-376555">
              <a:lnSpc>
                <a:spcPct val="100000"/>
              </a:lnSpc>
              <a:spcBef>
                <a:spcPts val="270"/>
              </a:spcBef>
              <a:buFont typeface="Arial"/>
              <a:buAutoNum type="alphaLcPeriod"/>
              <a:tabLst>
                <a:tab pos="805180" algn="l"/>
              </a:tabLst>
            </a:pPr>
            <a:r>
              <a:rPr sz="1400" spc="-10" dirty="0">
                <a:solidFill>
                  <a:srgbClr val="595959"/>
                </a:solidFill>
                <a:latin typeface="Courier New"/>
                <a:cs typeface="Courier New"/>
              </a:rPr>
              <a:t>all</a:t>
            </a:r>
            <a:r>
              <a:rPr sz="1400" spc="-4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(is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groups)</a:t>
            </a:r>
            <a:endParaRPr sz="1400">
              <a:latin typeface="Arial"/>
              <a:cs typeface="Arial"/>
            </a:endParaRPr>
          </a:p>
          <a:p>
            <a:pPr marL="805180" lvl="1" indent="-376555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051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Parent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  <a:p>
            <a:pPr marL="805180" lvl="1" indent="-366395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051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Child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endParaRPr sz="1400">
              <a:latin typeface="Arial"/>
              <a:cs typeface="Arial"/>
            </a:endParaRPr>
          </a:p>
          <a:p>
            <a:pPr marL="805180" lvl="1" indent="-376555">
              <a:lnSpc>
                <a:spcPct val="100000"/>
              </a:lnSpc>
              <a:spcBef>
                <a:spcPts val="270"/>
              </a:spcBef>
              <a:buAutoNum type="alphaLcPeriod"/>
              <a:tabLst>
                <a:tab pos="805180" algn="l"/>
              </a:tabLst>
            </a:pP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endParaRPr sz="1400">
              <a:latin typeface="Arial"/>
              <a:cs typeface="Arial"/>
            </a:endParaRPr>
          </a:p>
          <a:p>
            <a:pPr marL="348615" marR="5080" indent="-336550">
              <a:lnSpc>
                <a:spcPct val="116100"/>
              </a:lnSpc>
              <a:buChar char="●"/>
              <a:tabLst>
                <a:tab pos="34861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two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groups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level,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alphabetical,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which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priority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group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merged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order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variable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ansible_group_priority</a:t>
            </a:r>
            <a:r>
              <a:rPr sz="1400" spc="2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which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Courier New"/>
                <a:cs typeface="Courier New"/>
              </a:rPr>
              <a:t>1</a:t>
            </a:r>
            <a:r>
              <a:rPr sz="1400" spc="-9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value: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5475" y="3508049"/>
            <a:ext cx="2392199" cy="9383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1674" y="4503363"/>
            <a:ext cx="618172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Example: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https://github.com/xserrat/company-infrastructure/tree/variables-merging-</a:t>
            </a: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order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36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Playbooks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6346190" cy="60960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ways: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Specifying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value: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3193" y="2494738"/>
            <a:ext cx="65747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Specifying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defined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assigned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value: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3193" y="3456763"/>
            <a:ext cx="5576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Char char="○"/>
              <a:tabLst>
                <a:tab pos="34798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Specifying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prompted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executing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playbook: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1611200"/>
            <a:ext cx="1806415" cy="7612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36500" y="2873500"/>
            <a:ext cx="2051306" cy="5726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7274" y="2849082"/>
            <a:ext cx="1905024" cy="188484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7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577965" cy="1957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Three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roles: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my_role/defaults/main.yml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default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○"/>
            </a:pP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my_role/vars/main.yml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○"/>
            </a:pPr>
            <a:endParaRPr sz="1800">
              <a:latin typeface="Arial"/>
              <a:cs typeface="Arial"/>
            </a:endParaRPr>
          </a:p>
          <a:p>
            <a:pPr marL="836294" lvl="1" indent="-36639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my_role/meta/main.yml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dependencies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Variables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Usage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playbook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16503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Conditionals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225" y="1594375"/>
            <a:ext cx="5276950" cy="2631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4547113"/>
            <a:ext cx="62204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https://docs.ansible.com/ansible/latest/user_guide/playbooks_conditionals.html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Variables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Usage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spc="-10" dirty="0"/>
              <a:t>playbook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1015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Loops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4212" y="1926750"/>
            <a:ext cx="3550075" cy="20111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4725" y="4433813"/>
            <a:ext cx="5706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https://docs.ansible.com/ansible/latest/user_guide/playbooks_loops.html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Variables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Main</a:t>
            </a:r>
            <a:r>
              <a:rPr spc="-75" dirty="0"/>
              <a:t> </a:t>
            </a:r>
            <a:r>
              <a:rPr spc="-10" dirty="0"/>
              <a:t>Prioritization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27646" y="1220420"/>
            <a:ext cx="2653030" cy="337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7195" indent="-33401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command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line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values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(eg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“-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user”)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role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defaults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file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script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group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group_vars/all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playbook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group_vars/all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group_vars/*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playbook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group_vars/*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file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script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host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endParaRPr sz="1000">
              <a:latin typeface="Arial"/>
              <a:cs typeface="Arial"/>
            </a:endParaRPr>
          </a:p>
          <a:p>
            <a:pPr marL="417195" indent="-334010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inventory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host_vars/*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playbook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host_vars/*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host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facts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/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cached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set_facts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vars_prompt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play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vars_files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role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(defined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role/vars/main.yml)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block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(only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tasks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block)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task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(only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task)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include_vars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set_facts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/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registered</a:t>
            </a:r>
            <a:r>
              <a:rPr sz="1000" spc="-20" dirty="0">
                <a:solidFill>
                  <a:srgbClr val="404040"/>
                </a:solidFill>
                <a:latin typeface="Arial"/>
                <a:cs typeface="Arial"/>
              </a:rPr>
              <a:t> vars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role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(and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include_role)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params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include</a:t>
            </a:r>
            <a:r>
              <a:rPr sz="10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params</a:t>
            </a:r>
            <a:endParaRPr sz="1000">
              <a:latin typeface="Arial"/>
              <a:cs typeface="Arial"/>
            </a:endParaRPr>
          </a:p>
          <a:p>
            <a:pPr marL="417195" indent="-404495">
              <a:lnSpc>
                <a:spcPct val="100000"/>
              </a:lnSpc>
              <a:buAutoNum type="arabicPeriod"/>
              <a:tabLst>
                <a:tab pos="417195" algn="l"/>
              </a:tabLst>
            </a:pP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extra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vars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(always</a:t>
            </a:r>
            <a:r>
              <a:rPr sz="1000" spc="-1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04040"/>
                </a:solidFill>
                <a:latin typeface="Arial"/>
                <a:cs typeface="Arial"/>
              </a:rPr>
              <a:t>win</a:t>
            </a:r>
            <a:r>
              <a:rPr sz="1000" spc="-10" dirty="0">
                <a:solidFill>
                  <a:srgbClr val="404040"/>
                </a:solidFill>
                <a:latin typeface="Arial"/>
                <a:cs typeface="Arial"/>
              </a:rPr>
              <a:t> precedence)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71387" y="1752412"/>
            <a:ext cx="638175" cy="2465070"/>
            <a:chOff x="2171387" y="1752412"/>
            <a:chExt cx="638175" cy="2465070"/>
          </a:xfrm>
        </p:grpSpPr>
        <p:sp>
          <p:nvSpPr>
            <p:cNvPr id="5" name="object 5"/>
            <p:cNvSpPr/>
            <p:nvPr/>
          </p:nvSpPr>
          <p:spPr>
            <a:xfrm>
              <a:off x="2176149" y="1757174"/>
              <a:ext cx="628650" cy="2455545"/>
            </a:xfrm>
            <a:custGeom>
              <a:avLst/>
              <a:gdLst/>
              <a:ahLst/>
              <a:cxnLst/>
              <a:rect l="l" t="t" r="r" b="b"/>
              <a:pathLst>
                <a:path w="628650" h="2455545">
                  <a:moveTo>
                    <a:pt x="314249" y="2455499"/>
                  </a:moveTo>
                  <a:lnTo>
                    <a:pt x="0" y="2141249"/>
                  </a:lnTo>
                  <a:lnTo>
                    <a:pt x="157124" y="2141249"/>
                  </a:lnTo>
                  <a:lnTo>
                    <a:pt x="157124" y="0"/>
                  </a:lnTo>
                  <a:lnTo>
                    <a:pt x="471374" y="0"/>
                  </a:lnTo>
                  <a:lnTo>
                    <a:pt x="471374" y="2141249"/>
                  </a:lnTo>
                  <a:lnTo>
                    <a:pt x="628499" y="2141249"/>
                  </a:lnTo>
                  <a:lnTo>
                    <a:pt x="314249" y="2455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76149" y="1757174"/>
              <a:ext cx="628650" cy="2455545"/>
            </a:xfrm>
            <a:custGeom>
              <a:avLst/>
              <a:gdLst/>
              <a:ahLst/>
              <a:cxnLst/>
              <a:rect l="l" t="t" r="r" b="b"/>
              <a:pathLst>
                <a:path w="628650" h="2455545">
                  <a:moveTo>
                    <a:pt x="0" y="2141249"/>
                  </a:moveTo>
                  <a:lnTo>
                    <a:pt x="157124" y="2141249"/>
                  </a:lnTo>
                  <a:lnTo>
                    <a:pt x="157124" y="0"/>
                  </a:lnTo>
                  <a:lnTo>
                    <a:pt x="471374" y="0"/>
                  </a:lnTo>
                  <a:lnTo>
                    <a:pt x="471374" y="2141249"/>
                  </a:lnTo>
                  <a:lnTo>
                    <a:pt x="628499" y="2141249"/>
                  </a:lnTo>
                  <a:lnTo>
                    <a:pt x="314249" y="2455499"/>
                  </a:lnTo>
                  <a:lnTo>
                    <a:pt x="0" y="2141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22825" y="2729787"/>
            <a:ext cx="4597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Arial"/>
                <a:cs typeface="Arial"/>
              </a:rPr>
              <a:t>PRIO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26343" y="3359859"/>
            <a:ext cx="275590" cy="299085"/>
            <a:chOff x="1626343" y="3359859"/>
            <a:chExt cx="275590" cy="299085"/>
          </a:xfrm>
        </p:grpSpPr>
        <p:sp>
          <p:nvSpPr>
            <p:cNvPr id="9" name="object 9"/>
            <p:cNvSpPr/>
            <p:nvPr/>
          </p:nvSpPr>
          <p:spPr>
            <a:xfrm>
              <a:off x="1631099" y="3364242"/>
              <a:ext cx="266065" cy="289560"/>
            </a:xfrm>
            <a:custGeom>
              <a:avLst/>
              <a:gdLst/>
              <a:ahLst/>
              <a:cxnLst/>
              <a:rect l="l" t="t" r="r" b="b"/>
              <a:pathLst>
                <a:path w="266064" h="289560">
                  <a:moveTo>
                    <a:pt x="265887" y="102870"/>
                  </a:moveTo>
                  <a:lnTo>
                    <a:pt x="175488" y="102870"/>
                  </a:lnTo>
                  <a:lnTo>
                    <a:pt x="175488" y="0"/>
                  </a:lnTo>
                  <a:lnTo>
                    <a:pt x="90398" y="0"/>
                  </a:lnTo>
                  <a:lnTo>
                    <a:pt x="90398" y="102870"/>
                  </a:lnTo>
                  <a:lnTo>
                    <a:pt x="0" y="102870"/>
                  </a:lnTo>
                  <a:lnTo>
                    <a:pt x="0" y="187960"/>
                  </a:lnTo>
                  <a:lnTo>
                    <a:pt x="90398" y="187960"/>
                  </a:lnTo>
                  <a:lnTo>
                    <a:pt x="90398" y="289560"/>
                  </a:lnTo>
                  <a:lnTo>
                    <a:pt x="175488" y="289560"/>
                  </a:lnTo>
                  <a:lnTo>
                    <a:pt x="175488" y="187960"/>
                  </a:lnTo>
                  <a:lnTo>
                    <a:pt x="265887" y="187960"/>
                  </a:lnTo>
                  <a:lnTo>
                    <a:pt x="265887" y="10287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31106" y="3364622"/>
              <a:ext cx="266065" cy="289560"/>
            </a:xfrm>
            <a:custGeom>
              <a:avLst/>
              <a:gdLst/>
              <a:ahLst/>
              <a:cxnLst/>
              <a:rect l="l" t="t" r="r" b="b"/>
              <a:pathLst>
                <a:path w="266064" h="289560">
                  <a:moveTo>
                    <a:pt x="0" y="102080"/>
                  </a:moveTo>
                  <a:lnTo>
                    <a:pt x="90395" y="102080"/>
                  </a:lnTo>
                  <a:lnTo>
                    <a:pt x="90395" y="0"/>
                  </a:lnTo>
                  <a:lnTo>
                    <a:pt x="175491" y="0"/>
                  </a:lnTo>
                  <a:lnTo>
                    <a:pt x="175491" y="102080"/>
                  </a:lnTo>
                  <a:lnTo>
                    <a:pt x="265886" y="102080"/>
                  </a:lnTo>
                  <a:lnTo>
                    <a:pt x="265886" y="187175"/>
                  </a:lnTo>
                  <a:lnTo>
                    <a:pt x="175491" y="187175"/>
                  </a:lnTo>
                  <a:lnTo>
                    <a:pt x="175491" y="289255"/>
                  </a:lnTo>
                  <a:lnTo>
                    <a:pt x="90395" y="289255"/>
                  </a:lnTo>
                  <a:lnTo>
                    <a:pt x="90395" y="187175"/>
                  </a:lnTo>
                  <a:lnTo>
                    <a:pt x="0" y="187175"/>
                  </a:lnTo>
                  <a:lnTo>
                    <a:pt x="0" y="10208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619630" y="2224415"/>
            <a:ext cx="241300" cy="78105"/>
            <a:chOff x="1619630" y="2224415"/>
            <a:chExt cx="241300" cy="78105"/>
          </a:xfrm>
        </p:grpSpPr>
        <p:sp>
          <p:nvSpPr>
            <p:cNvPr id="12" name="object 12"/>
            <p:cNvSpPr/>
            <p:nvPr/>
          </p:nvSpPr>
          <p:spPr>
            <a:xfrm>
              <a:off x="1624393" y="2229178"/>
              <a:ext cx="231775" cy="68580"/>
            </a:xfrm>
            <a:custGeom>
              <a:avLst/>
              <a:gdLst/>
              <a:ahLst/>
              <a:cxnLst/>
              <a:rect l="l" t="t" r="r" b="b"/>
              <a:pathLst>
                <a:path w="231775" h="68580">
                  <a:moveTo>
                    <a:pt x="231713" y="68443"/>
                  </a:moveTo>
                  <a:lnTo>
                    <a:pt x="0" y="68443"/>
                  </a:lnTo>
                  <a:lnTo>
                    <a:pt x="0" y="0"/>
                  </a:lnTo>
                  <a:lnTo>
                    <a:pt x="231713" y="0"/>
                  </a:lnTo>
                  <a:lnTo>
                    <a:pt x="231713" y="68443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624393" y="2229178"/>
              <a:ext cx="231775" cy="68580"/>
            </a:xfrm>
            <a:custGeom>
              <a:avLst/>
              <a:gdLst/>
              <a:ahLst/>
              <a:cxnLst/>
              <a:rect l="l" t="t" r="r" b="b"/>
              <a:pathLst>
                <a:path w="231775" h="68580">
                  <a:moveTo>
                    <a:pt x="0" y="0"/>
                  </a:moveTo>
                  <a:lnTo>
                    <a:pt x="231713" y="0"/>
                  </a:lnTo>
                  <a:lnTo>
                    <a:pt x="231713" y="68443"/>
                  </a:lnTo>
                  <a:lnTo>
                    <a:pt x="0" y="684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6924" y="4569512"/>
            <a:ext cx="792035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https://docs.ansible.com/ansible/latest/user_guide/playbooks_variables.html#variable-precedence-where-should-i-put-a-variable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spc="-20" dirty="0"/>
              <a:t>Tags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7849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tags.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allow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tasks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who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those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tags.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2950" y="1925850"/>
            <a:ext cx="2493774" cy="27431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51750" y="4769538"/>
            <a:ext cx="13055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ourier New"/>
                <a:cs typeface="Courier New"/>
              </a:rPr>
              <a:t>playbook.yml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9900" y="2981812"/>
            <a:ext cx="47193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$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32F62"/>
                </a:solidFill>
                <a:latin typeface="Courier New"/>
                <a:cs typeface="Courier New"/>
              </a:rPr>
              <a:t>ansible-</a:t>
            </a: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playbook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32F62"/>
                </a:solidFill>
                <a:latin typeface="Courier New"/>
                <a:cs typeface="Courier New"/>
              </a:rPr>
              <a:t>-</a:t>
            </a: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i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production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playbook.yml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32F62"/>
                </a:solidFill>
                <a:latin typeface="Courier New"/>
                <a:cs typeface="Courier New"/>
              </a:rPr>
              <a:t>--</a:t>
            </a:r>
            <a:r>
              <a:rPr sz="1100" dirty="0">
                <a:solidFill>
                  <a:srgbClr val="032F62"/>
                </a:solidFill>
                <a:latin typeface="Courier New"/>
                <a:cs typeface="Courier New"/>
              </a:rPr>
              <a:t>tags</a:t>
            </a:r>
            <a:r>
              <a:rPr sz="1100" spc="-5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032F62"/>
                </a:solidFill>
                <a:latin typeface="Courier New"/>
                <a:cs typeface="Courier New"/>
              </a:rPr>
              <a:t>ntp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6300" y="4251013"/>
            <a:ext cx="49041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*We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only</a:t>
            </a:r>
            <a:r>
              <a:rPr sz="1400" spc="-10" dirty="0">
                <a:latin typeface="Arial"/>
                <a:cs typeface="Arial"/>
              </a:rPr>
              <a:t> re-</a:t>
            </a:r>
            <a:r>
              <a:rPr sz="1400" dirty="0">
                <a:latin typeface="Arial"/>
                <a:cs typeface="Arial"/>
              </a:rPr>
              <a:t>configure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ntp</a:t>
            </a:r>
            <a:r>
              <a:rPr sz="1400" spc="-409" dirty="0">
                <a:latin typeface="Courier New"/>
                <a:cs typeface="Courier New"/>
              </a:rPr>
              <a:t> </a:t>
            </a:r>
            <a:r>
              <a:rPr sz="1400" dirty="0">
                <a:latin typeface="Arial"/>
                <a:cs typeface="Arial"/>
              </a:rPr>
              <a:t>service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to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the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group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webservers</a:t>
            </a:r>
            <a:r>
              <a:rPr sz="1400" spc="-69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5" dirty="0">
                <a:solidFill>
                  <a:srgbClr val="595959"/>
                </a:solidFill>
                <a:latin typeface="Arial"/>
                <a:cs typeface="Arial"/>
              </a:rPr>
              <a:t>42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Extras</a:t>
            </a:r>
            <a:r>
              <a:rPr spc="-75" dirty="0"/>
              <a:t> </a:t>
            </a:r>
            <a:r>
              <a:rPr dirty="0"/>
              <a:t>&gt;</a:t>
            </a:r>
            <a:r>
              <a:rPr spc="-75" dirty="0"/>
              <a:t> </a:t>
            </a:r>
            <a:r>
              <a:rPr dirty="0"/>
              <a:t>Dynamic</a:t>
            </a:r>
            <a:r>
              <a:rPr spc="-75" dirty="0"/>
              <a:t> </a:t>
            </a:r>
            <a:r>
              <a:rPr spc="-10" dirty="0"/>
              <a:t>Inventory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8112759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external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inventories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provider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find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them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playbook.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51391"/>
            <a:ext cx="777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https://docs.ansible.com/ansible/latest/user_guide/intro_dynamic_inventory.html#inventory-script-example-aws-</a:t>
            </a:r>
            <a:r>
              <a:rPr sz="1200"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ec2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60" dirty="0"/>
              <a:t> </a:t>
            </a:r>
            <a:r>
              <a:rPr dirty="0"/>
              <a:t>&gt;</a:t>
            </a:r>
            <a:r>
              <a:rPr spc="-65" dirty="0"/>
              <a:t> </a:t>
            </a:r>
            <a:r>
              <a:rPr dirty="0"/>
              <a:t>Extras</a:t>
            </a:r>
            <a:r>
              <a:rPr spc="-60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spc="-20" dirty="0"/>
              <a:t>Ad-</a:t>
            </a:r>
            <a:r>
              <a:rPr dirty="0"/>
              <a:t>Hoc</a:t>
            </a:r>
            <a:r>
              <a:rPr spc="-60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922259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need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something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really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quickly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don’t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save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later.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machines.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Example: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Copy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hosts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(webservers)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4175" y="2935738"/>
            <a:ext cx="68529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$</a:t>
            </a:r>
            <a:r>
              <a:rPr sz="1400" spc="-30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ansible</a:t>
            </a:r>
            <a:r>
              <a:rPr sz="1400" spc="-2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webservers</a:t>
            </a:r>
            <a:r>
              <a:rPr sz="1400" spc="-2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32F62"/>
                </a:solidFill>
                <a:latin typeface="Courier New"/>
                <a:cs typeface="Courier New"/>
              </a:rPr>
              <a:t>-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m</a:t>
            </a:r>
            <a:r>
              <a:rPr sz="1400" spc="-30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copy</a:t>
            </a:r>
            <a:r>
              <a:rPr sz="1400" spc="-2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32F62"/>
                </a:solidFill>
                <a:latin typeface="Courier New"/>
                <a:cs typeface="Courier New"/>
              </a:rPr>
              <a:t>-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a</a:t>
            </a:r>
            <a:r>
              <a:rPr sz="1400" spc="-2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032F62"/>
                </a:solidFill>
                <a:latin typeface="Courier New"/>
                <a:cs typeface="Courier New"/>
              </a:rPr>
              <a:t>"src=/etc/hosts</a:t>
            </a:r>
            <a:r>
              <a:rPr sz="1400" spc="-25" dirty="0">
                <a:solidFill>
                  <a:srgbClr val="032F62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032F62"/>
                </a:solidFill>
                <a:latin typeface="Courier New"/>
                <a:cs typeface="Courier New"/>
              </a:rPr>
              <a:t>dest=/tmp/hosts"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Extras</a:t>
            </a:r>
            <a:r>
              <a:rPr spc="-75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Ansible</a:t>
            </a:r>
            <a:r>
              <a:rPr spc="-80" dirty="0"/>
              <a:t> </a:t>
            </a:r>
            <a:r>
              <a:rPr spc="-10" dirty="0"/>
              <a:t>Container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760334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Configure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docker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containers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rather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Dockerfile.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890"/>
              </a:spcBef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https://docs.ansible.com/ansible-container/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55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Extras</a:t>
            </a:r>
            <a:r>
              <a:rPr spc="-55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IDE</a:t>
            </a:r>
            <a:r>
              <a:rPr spc="-55" dirty="0"/>
              <a:t> </a:t>
            </a:r>
            <a:r>
              <a:rPr spc="-10" dirty="0"/>
              <a:t>plugins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541259" cy="2138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PhpStorm: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Plugin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YAML/Ansible</a:t>
            </a:r>
            <a:r>
              <a:rPr sz="1800" spc="-5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support</a:t>
            </a:r>
            <a:r>
              <a:rPr sz="1800" spc="-4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allows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navigate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roles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CMD/CTRL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CLICK!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890"/>
              </a:spcBef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https://github.com/vermut/intellij-ansible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89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Visual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studio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code: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Plugin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autocompletion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other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features.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905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https://marketplace.visualstudio.com/items?itemName=vscoss.vscode-ansible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55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Extras</a:t>
            </a:r>
            <a:r>
              <a:rPr spc="-55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dirty="0"/>
              <a:t>Best</a:t>
            </a:r>
            <a:r>
              <a:rPr spc="-5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3621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provides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best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practices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playbooks: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759405"/>
            <a:ext cx="8028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https://docs.ansible.com/ansible/2.7/user_guide/playbooks_best_practices.html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Ansible</a:t>
            </a:r>
            <a:r>
              <a:rPr spc="-80" dirty="0"/>
              <a:t> </a:t>
            </a:r>
            <a:r>
              <a:rPr dirty="0"/>
              <a:t>&gt;</a:t>
            </a:r>
            <a:r>
              <a:rPr spc="-80" dirty="0"/>
              <a:t> </a:t>
            </a:r>
            <a:r>
              <a:rPr dirty="0"/>
              <a:t>More</a:t>
            </a:r>
            <a:r>
              <a:rPr spc="-80" dirty="0"/>
              <a:t> </a:t>
            </a: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481570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Ansible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examples: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https://github.com/ansible/ansible-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examples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dirty="0">
                <a:latin typeface="Arial"/>
                <a:cs typeface="Arial"/>
              </a:rPr>
              <a:t>Building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LAMP: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3"/>
              </a:rPr>
              <a:t>https://github.com/ansible/ansible-examples/tree/master/lamp_simple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775" y="1735762"/>
            <a:ext cx="4990199" cy="1671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50" dirty="0"/>
              <a:t> </a:t>
            </a:r>
            <a:r>
              <a:rPr dirty="0"/>
              <a:t>&gt;</a:t>
            </a:r>
            <a:r>
              <a:rPr spc="-55" dirty="0"/>
              <a:t> </a:t>
            </a:r>
            <a:r>
              <a:rPr dirty="0"/>
              <a:t>Why</a:t>
            </a:r>
            <a:r>
              <a:rPr spc="-45" dirty="0"/>
              <a:t> </a:t>
            </a:r>
            <a:r>
              <a:rPr dirty="0"/>
              <a:t>do</a:t>
            </a:r>
            <a:r>
              <a:rPr spc="-50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need</a:t>
            </a:r>
            <a:r>
              <a:rPr spc="-45" dirty="0"/>
              <a:t> </a:t>
            </a:r>
            <a:r>
              <a:rPr spc="-25" dirty="0"/>
              <a:t>it?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74050" cy="3024505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14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Easy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automate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creation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type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image.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Easy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share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testing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deployment.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Keep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development,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staging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similar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possible.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advantages:</a:t>
            </a:r>
            <a:endParaRPr sz="1800">
              <a:latin typeface="Arial"/>
              <a:cs typeface="Arial"/>
            </a:endParaRPr>
          </a:p>
          <a:p>
            <a:pPr marL="836294" marR="436245" lvl="1" indent="-336550">
              <a:lnSpc>
                <a:spcPct val="116100"/>
              </a:lnSpc>
              <a:spcBef>
                <a:spcPts val="6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Super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fast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infrastructure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deployment:</a:t>
            </a:r>
            <a:r>
              <a:rPr sz="14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Launch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provisioned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configured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in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seconds.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270"/>
              </a:spcBef>
              <a:buFont typeface="Arial"/>
              <a:buChar char="○"/>
              <a:tabLst>
                <a:tab pos="836294" algn="l"/>
              </a:tabLst>
            </a:pPr>
            <a:r>
              <a:rPr sz="1400" b="1" spc="-10" dirty="0">
                <a:solidFill>
                  <a:srgbClr val="595959"/>
                </a:solidFill>
                <a:latin typeface="Arial"/>
                <a:cs typeface="Arial"/>
              </a:rPr>
              <a:t>Multi-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provider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portability:</a:t>
            </a:r>
            <a:r>
              <a:rPr sz="1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environments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providers.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AWS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or/and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Google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Cloud.</a:t>
            </a:r>
            <a:endParaRPr sz="1400">
              <a:latin typeface="Arial"/>
              <a:cs typeface="Arial"/>
            </a:endParaRPr>
          </a:p>
          <a:p>
            <a:pPr marL="1293495" lvl="2" indent="-335915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development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Docker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buFont typeface="Arial"/>
              <a:buChar char="○"/>
              <a:tabLst>
                <a:tab pos="836294" algn="l"/>
              </a:tabLst>
            </a:pP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Greater</a:t>
            </a:r>
            <a:r>
              <a:rPr sz="1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testability:</a:t>
            </a:r>
            <a:r>
              <a:rPr sz="14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launch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built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test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works.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Then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ensure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launched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work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properly.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85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General</a:t>
            </a:r>
            <a:r>
              <a:rPr spc="-80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849870" cy="257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134620" indent="-367030">
              <a:lnSpc>
                <a:spcPct val="1493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Packer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“Templates”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which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JSON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files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how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our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have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created.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template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three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basic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components:</a:t>
            </a: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1080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Provisioners: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configure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(install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packages,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code...)</a:t>
            </a: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869"/>
              </a:spcBef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Builders: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4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generating</a:t>
            </a:r>
            <a:r>
              <a:rPr sz="14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r>
              <a:rPr sz="14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them.</a:t>
            </a:r>
            <a:endParaRPr sz="1400">
              <a:latin typeface="Arial"/>
              <a:cs typeface="Arial"/>
            </a:endParaRPr>
          </a:p>
          <a:p>
            <a:pPr marL="836294" marR="5080" lvl="1" indent="-336550">
              <a:lnSpc>
                <a:spcPct val="151800"/>
              </a:lnSpc>
              <a:buChar char="○"/>
              <a:tabLst>
                <a:tab pos="836294" algn="l"/>
              </a:tabLst>
            </a:pP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Post-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processors: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executing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action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after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built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Upload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registry).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85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General</a:t>
            </a:r>
            <a:r>
              <a:rPr spc="-85" dirty="0"/>
              <a:t> </a:t>
            </a:r>
            <a:r>
              <a:rPr dirty="0"/>
              <a:t>overview</a:t>
            </a:r>
            <a:r>
              <a:rPr spc="-85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9" y="1689199"/>
            <a:ext cx="835660" cy="8356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Times New Roman"/>
              <a:cs typeface="Times New Roman"/>
            </a:endParaRPr>
          </a:p>
          <a:p>
            <a:pPr marL="129539" marR="121920" indent="59055">
              <a:lnSpc>
                <a:spcPts val="1430"/>
              </a:lnSpc>
            </a:pPr>
            <a:r>
              <a:rPr sz="1200" spc="-10" dirty="0">
                <a:latin typeface="Arial"/>
                <a:cs typeface="Arial"/>
              </a:rPr>
              <a:t>Create machine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0925" y="1689349"/>
            <a:ext cx="1115695" cy="8356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Times New Roman"/>
              <a:cs typeface="Times New Roman"/>
            </a:endParaRPr>
          </a:p>
          <a:p>
            <a:pPr marL="269240" marR="236854" indent="-25400">
              <a:lnSpc>
                <a:spcPts val="1430"/>
              </a:lnSpc>
            </a:pPr>
            <a:r>
              <a:rPr sz="1200" spc="-10" dirty="0">
                <a:latin typeface="Arial"/>
                <a:cs typeface="Arial"/>
              </a:rPr>
              <a:t>Provision machine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0824" y="1689349"/>
            <a:ext cx="941705" cy="8356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Times New Roman"/>
              <a:cs typeface="Times New Roman"/>
            </a:endParaRPr>
          </a:p>
          <a:p>
            <a:pPr marL="182245" marR="175260" indent="130810">
              <a:lnSpc>
                <a:spcPts val="1430"/>
              </a:lnSpc>
            </a:pPr>
            <a:r>
              <a:rPr sz="1200" spc="-20" dirty="0">
                <a:latin typeface="Arial"/>
                <a:cs typeface="Arial"/>
              </a:rPr>
              <a:t>Stop </a:t>
            </a:r>
            <a:r>
              <a:rPr sz="1200" spc="-10" dirty="0">
                <a:latin typeface="Arial"/>
                <a:cs typeface="Arial"/>
              </a:rPr>
              <a:t>machine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23325" y="1689349"/>
            <a:ext cx="1281430" cy="835660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46685" rIns="0" bIns="0" rtlCol="0">
            <a:spAutoFit/>
          </a:bodyPr>
          <a:lstStyle/>
          <a:p>
            <a:pPr marL="93980" marR="86360" algn="ctr">
              <a:lnSpc>
                <a:spcPts val="1430"/>
              </a:lnSpc>
              <a:spcBef>
                <a:spcPts val="1155"/>
              </a:spcBef>
            </a:pPr>
            <a:r>
              <a:rPr sz="1200" dirty="0">
                <a:latin typeface="Arial"/>
                <a:cs typeface="Arial"/>
              </a:rPr>
              <a:t>Generate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image </a:t>
            </a:r>
            <a:r>
              <a:rPr sz="1200" dirty="0">
                <a:latin typeface="Arial"/>
                <a:cs typeface="Arial"/>
              </a:rPr>
              <a:t>from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stopped machine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02037" y="1874337"/>
            <a:ext cx="474980" cy="465455"/>
            <a:chOff x="1302037" y="1874337"/>
            <a:chExt cx="474980" cy="465455"/>
          </a:xfrm>
        </p:grpSpPr>
        <p:sp>
          <p:nvSpPr>
            <p:cNvPr id="8" name="object 8"/>
            <p:cNvSpPr/>
            <p:nvPr/>
          </p:nvSpPr>
          <p:spPr>
            <a:xfrm>
              <a:off x="1306799" y="187910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5" h="455930">
                  <a:moveTo>
                    <a:pt x="237299" y="455399"/>
                  </a:move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06799" y="187910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5" h="455930">
                  <a:moveTo>
                    <a:pt x="0" y="113849"/>
                  </a:move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076312" y="1874487"/>
            <a:ext cx="474980" cy="465455"/>
            <a:chOff x="3076312" y="1874487"/>
            <a:chExt cx="474980" cy="465455"/>
          </a:xfrm>
        </p:grpSpPr>
        <p:sp>
          <p:nvSpPr>
            <p:cNvPr id="11" name="object 11"/>
            <p:cNvSpPr/>
            <p:nvPr/>
          </p:nvSpPr>
          <p:spPr>
            <a:xfrm>
              <a:off x="3081074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237299" y="455399"/>
                  </a:move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81074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0" y="113849"/>
                  </a:move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25662" y="1874487"/>
            <a:ext cx="474980" cy="465455"/>
            <a:chOff x="4725662" y="1874487"/>
            <a:chExt cx="474980" cy="465455"/>
          </a:xfrm>
        </p:grpSpPr>
        <p:sp>
          <p:nvSpPr>
            <p:cNvPr id="14" name="object 14"/>
            <p:cNvSpPr/>
            <p:nvPr/>
          </p:nvSpPr>
          <p:spPr>
            <a:xfrm>
              <a:off x="4730424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237299" y="455399"/>
                  </a:move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0424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0" y="113849"/>
                  </a:move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25124" y="1767650"/>
            <a:ext cx="1366520" cy="678815"/>
          </a:xfrm>
          <a:prstGeom prst="rect">
            <a:avLst/>
          </a:prstGeom>
          <a:solidFill>
            <a:srgbClr val="EEEEEE"/>
          </a:solidFill>
          <a:ln w="9524">
            <a:solidFill>
              <a:srgbClr val="595959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L="111125" marR="104139" indent="330200">
              <a:lnSpc>
                <a:spcPts val="1430"/>
              </a:lnSpc>
              <a:spcBef>
                <a:spcPts val="1255"/>
              </a:spcBef>
            </a:pPr>
            <a:r>
              <a:rPr sz="1200" spc="-10" dirty="0">
                <a:latin typeface="Arial"/>
                <a:cs typeface="Arial"/>
              </a:rPr>
              <a:t>Upload </a:t>
            </a:r>
            <a:r>
              <a:rPr sz="1200" dirty="0">
                <a:latin typeface="Arial"/>
                <a:cs typeface="Arial"/>
              </a:rPr>
              <a:t>generated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image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727449" y="1874487"/>
            <a:ext cx="474980" cy="465455"/>
            <a:chOff x="6727449" y="1874487"/>
            <a:chExt cx="474980" cy="465455"/>
          </a:xfrm>
        </p:grpSpPr>
        <p:sp>
          <p:nvSpPr>
            <p:cNvPr id="18" name="object 18"/>
            <p:cNvSpPr/>
            <p:nvPr/>
          </p:nvSpPr>
          <p:spPr>
            <a:xfrm>
              <a:off x="6732212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237299" y="455399"/>
                  </a:move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32212" y="1879250"/>
              <a:ext cx="465455" cy="455930"/>
            </a:xfrm>
            <a:custGeom>
              <a:avLst/>
              <a:gdLst/>
              <a:ahLst/>
              <a:cxnLst/>
              <a:rect l="l" t="t" r="r" b="b"/>
              <a:pathLst>
                <a:path w="465454" h="455930">
                  <a:moveTo>
                    <a:pt x="0" y="113849"/>
                  </a:moveTo>
                  <a:lnTo>
                    <a:pt x="237299" y="113849"/>
                  </a:lnTo>
                  <a:lnTo>
                    <a:pt x="237299" y="0"/>
                  </a:lnTo>
                  <a:lnTo>
                    <a:pt x="464999" y="227699"/>
                  </a:lnTo>
                  <a:lnTo>
                    <a:pt x="237299" y="455399"/>
                  </a:lnTo>
                  <a:lnTo>
                    <a:pt x="237299" y="341549"/>
                  </a:lnTo>
                  <a:lnTo>
                    <a:pt x="0" y="341549"/>
                  </a:lnTo>
                  <a:lnTo>
                    <a:pt x="0" y="1138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921565" y="1594750"/>
            <a:ext cx="2030730" cy="27901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400">
              <a:latin typeface="Times New Roman"/>
              <a:cs typeface="Times New Roman"/>
            </a:endParaRPr>
          </a:p>
          <a:p>
            <a:pPr marL="506730" marR="167640" indent="-330835">
              <a:lnSpc>
                <a:spcPts val="1650"/>
              </a:lnSpc>
            </a:pPr>
            <a:r>
              <a:rPr sz="1400" spc="-20" dirty="0">
                <a:latin typeface="Arial"/>
                <a:cs typeface="Arial"/>
              </a:rPr>
              <a:t>POST-</a:t>
            </a:r>
            <a:r>
              <a:rPr sz="1400" spc="-10" dirty="0">
                <a:latin typeface="Arial"/>
                <a:cs typeface="Arial"/>
              </a:rPr>
              <a:t>PROCESSOR (OPTIONAL)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209349" y="1594750"/>
            <a:ext cx="1233170" cy="27901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00">
              <a:latin typeface="Times New Roman"/>
              <a:cs typeface="Times New Roman"/>
            </a:endParaRPr>
          </a:p>
          <a:p>
            <a:pPr marL="231140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BUILDER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27162" y="1594750"/>
            <a:ext cx="1553845" cy="27901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00">
              <a:latin typeface="Times New Roman"/>
              <a:cs typeface="Times New Roman"/>
            </a:endParaRPr>
          </a:p>
          <a:p>
            <a:pPr marL="159385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PROVISIONER</a:t>
            </a:r>
            <a:endParaRPr sz="1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44875" y="1594750"/>
            <a:ext cx="3371215" cy="279019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latin typeface="Arial"/>
                <a:cs typeface="Arial"/>
              </a:rPr>
              <a:t>BUILDER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60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spc="-10" dirty="0"/>
              <a:t>Builders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8002270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493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machines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generating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r>
              <a:rPr sz="1800" b="1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them.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65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builders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one.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3994713"/>
            <a:ext cx="3670935" cy="686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Available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builders: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https://www.packer.io/docs/builders/index.html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70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Builders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Amazon</a:t>
            </a:r>
            <a:r>
              <a:rPr spc="-65" dirty="0"/>
              <a:t> </a:t>
            </a:r>
            <a:r>
              <a:rPr dirty="0"/>
              <a:t>EC2</a:t>
            </a:r>
            <a:r>
              <a:rPr spc="-65" dirty="0"/>
              <a:t> </a:t>
            </a:r>
            <a:r>
              <a:rPr dirty="0"/>
              <a:t>AMI</a:t>
            </a:r>
            <a:r>
              <a:rPr spc="-65" dirty="0"/>
              <a:t> </a:t>
            </a:r>
            <a:r>
              <a:rPr spc="-10" dirty="0"/>
              <a:t>Builder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471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builder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used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AWS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AMI.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375" y="1650925"/>
            <a:ext cx="4044150" cy="27644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77625" y="2042874"/>
            <a:ext cx="3754674" cy="21326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490787" y="4327163"/>
            <a:ext cx="27806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Create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AMI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custom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AMI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1230125" y="4550038"/>
            <a:ext cx="271081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Create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AMI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using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AWS</a:t>
            </a:r>
            <a:r>
              <a:rPr sz="1400" spc="-25" dirty="0">
                <a:latin typeface="Arial"/>
                <a:cs typeface="Arial"/>
              </a:rPr>
              <a:t> AMI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70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Builders</a:t>
            </a:r>
            <a:r>
              <a:rPr spc="-65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Amazon</a:t>
            </a:r>
            <a:r>
              <a:rPr spc="-65" dirty="0"/>
              <a:t> </a:t>
            </a:r>
            <a:r>
              <a:rPr dirty="0"/>
              <a:t>EC2</a:t>
            </a:r>
            <a:r>
              <a:rPr spc="-65" dirty="0"/>
              <a:t> </a:t>
            </a:r>
            <a:r>
              <a:rPr dirty="0"/>
              <a:t>AMI</a:t>
            </a:r>
            <a:r>
              <a:rPr spc="-65" dirty="0"/>
              <a:t> </a:t>
            </a:r>
            <a:r>
              <a:rPr spc="-10" dirty="0"/>
              <a:t>Builder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502525" cy="65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AWS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AMI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source_ami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same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access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aws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marketplace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looking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AMI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use: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775" y="2129675"/>
            <a:ext cx="3652848" cy="186457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53675" y="2129675"/>
            <a:ext cx="2845924" cy="183226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60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spc="-10" dirty="0"/>
              <a:t>Provisioners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810500" cy="275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configure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booted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third-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party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</a:pP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tool.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Typical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configurations: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packages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Clr>
                <a:srgbClr val="595959"/>
              </a:buClr>
              <a:buFont typeface="Arial"/>
              <a:buChar char="○"/>
            </a:pP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85"/>
              </a:spcBef>
              <a:buClr>
                <a:srgbClr val="595959"/>
              </a:buClr>
              <a:buFont typeface="Arial"/>
              <a:buChar char="○"/>
            </a:pPr>
            <a:endParaRPr sz="140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Deploy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application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85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Provisioners</a:t>
            </a:r>
            <a:r>
              <a:rPr spc="-85" dirty="0"/>
              <a:t> </a:t>
            </a:r>
            <a:r>
              <a:rPr dirty="0"/>
              <a:t>&gt;</a:t>
            </a:r>
            <a:r>
              <a:rPr spc="-90" dirty="0"/>
              <a:t> </a:t>
            </a:r>
            <a:r>
              <a:rPr dirty="0"/>
              <a:t>Ansible</a:t>
            </a:r>
            <a:r>
              <a:rPr spc="-85" dirty="0"/>
              <a:t> </a:t>
            </a:r>
            <a:r>
              <a:rPr spc="-10" dirty="0"/>
              <a:t>Remote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20293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5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provisioner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playbooks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provision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booted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machine.</a:t>
            </a:r>
            <a:endParaRPr sz="1800">
              <a:latin typeface="Arial"/>
              <a:cs typeface="Arial"/>
            </a:endParaRPr>
          </a:p>
          <a:p>
            <a:pPr marL="379095" marR="18415" indent="-367030">
              <a:lnSpc>
                <a:spcPct val="114599"/>
              </a:lnSpc>
              <a:buFont typeface="Arial"/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Remote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configures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booted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SSH,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no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ansible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packages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needed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booted</a:t>
            </a:r>
            <a:r>
              <a:rPr sz="1800" b="1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want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booted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machine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Ansible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Local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provisioner.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574" y="3046250"/>
            <a:ext cx="5946724" cy="164582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40" dirty="0"/>
              <a:t> </a:t>
            </a:r>
            <a:r>
              <a:rPr dirty="0"/>
              <a:t>&gt;</a:t>
            </a:r>
            <a:r>
              <a:rPr spc="-45" dirty="0"/>
              <a:t> </a:t>
            </a:r>
            <a:r>
              <a:rPr spc="-20" dirty="0"/>
              <a:t>Post-</a:t>
            </a:r>
            <a:r>
              <a:rPr spc="-10" dirty="0"/>
              <a:t>Processors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579995" cy="8521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responsible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execute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actions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when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built.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595959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Example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usage: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Upload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image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registry.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8075" y="2201650"/>
            <a:ext cx="2421325" cy="26150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60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spc="-10" dirty="0"/>
              <a:t>ami_template.json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775" y="1107262"/>
            <a:ext cx="3359470" cy="382097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60" dirty="0"/>
              <a:t> </a:t>
            </a:r>
            <a:r>
              <a:rPr dirty="0"/>
              <a:t>&gt;</a:t>
            </a:r>
            <a:r>
              <a:rPr spc="-60" dirty="0"/>
              <a:t> </a:t>
            </a:r>
            <a:r>
              <a:rPr spc="-10" dirty="0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90205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Ubuntu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889"/>
              </a:spcBef>
            </a:pP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https://www.packer.io/intro/getting-started/install.html#precompiled-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binaries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249" y="2759405"/>
            <a:ext cx="3272790" cy="814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Install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Mac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1890"/>
              </a:spcBef>
            </a:pP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$</a:t>
            </a:r>
            <a:r>
              <a:rPr sz="1800" spc="-3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brew</a:t>
            </a:r>
            <a:r>
              <a:rPr sz="1800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install</a:t>
            </a:r>
            <a:r>
              <a:rPr sz="1800" spc="-20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Courier New"/>
                <a:cs typeface="Courier New"/>
              </a:rPr>
              <a:t>packer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95" dirty="0"/>
              <a:t> </a:t>
            </a:r>
            <a:r>
              <a:rPr dirty="0"/>
              <a:t>&gt;</a:t>
            </a:r>
            <a:r>
              <a:rPr spc="-95" dirty="0"/>
              <a:t> </a:t>
            </a:r>
            <a:r>
              <a:rPr dirty="0"/>
              <a:t>Template</a:t>
            </a:r>
            <a:r>
              <a:rPr spc="-90" dirty="0"/>
              <a:t> </a:t>
            </a:r>
            <a:r>
              <a:rPr spc="-10" dirty="0"/>
              <a:t>execution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0875" y="1122674"/>
            <a:ext cx="6196325" cy="2426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76707" y="3956763"/>
            <a:ext cx="343916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$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packer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build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ami_template.json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Packer</a:t>
            </a:r>
            <a:r>
              <a:rPr spc="-45" dirty="0"/>
              <a:t> </a:t>
            </a:r>
            <a:r>
              <a:rPr dirty="0"/>
              <a:t>&gt;</a:t>
            </a:r>
            <a:r>
              <a:rPr spc="-50" dirty="0"/>
              <a:t> </a:t>
            </a:r>
            <a:r>
              <a:rPr dirty="0"/>
              <a:t>Best</a:t>
            </a:r>
            <a:r>
              <a:rPr spc="-4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759065" cy="1604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Hashicorp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provides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repository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show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good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way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define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configuration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project: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95"/>
              </a:spcBef>
            </a:pPr>
            <a:endParaRPr sz="1800">
              <a:latin typeface="Arial"/>
              <a:cs typeface="Arial"/>
            </a:endParaRPr>
          </a:p>
          <a:p>
            <a:pPr marL="434340" algn="ctr">
              <a:lnSpc>
                <a:spcPct val="100000"/>
              </a:lnSpc>
            </a:pPr>
            <a:r>
              <a:rPr sz="18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https://github.com/hashicorp/best-</a:t>
            </a:r>
            <a:r>
              <a:rPr sz="18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practices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DEMO</a:t>
            </a:r>
            <a:r>
              <a:rPr spc="-55" dirty="0"/>
              <a:t> </a:t>
            </a:r>
            <a:r>
              <a:rPr dirty="0"/>
              <a:t>&gt;</a:t>
            </a:r>
            <a:r>
              <a:rPr spc="-55" dirty="0"/>
              <a:t> </a:t>
            </a:r>
            <a:r>
              <a:rPr dirty="0"/>
              <a:t>Build</a:t>
            </a:r>
            <a:r>
              <a:rPr spc="-50" dirty="0"/>
              <a:t> </a:t>
            </a:r>
            <a:r>
              <a:rPr dirty="0"/>
              <a:t>Amazon</a:t>
            </a:r>
            <a:r>
              <a:rPr spc="-55" dirty="0"/>
              <a:t> </a:t>
            </a:r>
            <a:r>
              <a:rPr dirty="0"/>
              <a:t>AMI</a:t>
            </a:r>
            <a:r>
              <a:rPr spc="-5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PHP</a:t>
            </a:r>
            <a:r>
              <a:rPr spc="-55" dirty="0"/>
              <a:t> </a:t>
            </a:r>
            <a:r>
              <a:rPr spc="-10" dirty="0"/>
              <a:t>installed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5150" y="1840325"/>
            <a:ext cx="1462824" cy="1462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3150" y="1992725"/>
            <a:ext cx="3695699" cy="12382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090740" y="2358587"/>
            <a:ext cx="574675" cy="581660"/>
            <a:chOff x="3090740" y="2358587"/>
            <a:chExt cx="574675" cy="581660"/>
          </a:xfrm>
        </p:grpSpPr>
        <p:sp>
          <p:nvSpPr>
            <p:cNvPr id="6" name="object 6"/>
            <p:cNvSpPr/>
            <p:nvPr/>
          </p:nvSpPr>
          <p:spPr>
            <a:xfrm>
              <a:off x="3095498" y="2363482"/>
              <a:ext cx="565150" cy="571500"/>
            </a:xfrm>
            <a:custGeom>
              <a:avLst/>
              <a:gdLst/>
              <a:ahLst/>
              <a:cxnLst/>
              <a:rect l="l" t="t" r="r" b="b"/>
              <a:pathLst>
                <a:path w="565150" h="571500">
                  <a:moveTo>
                    <a:pt x="564845" y="195580"/>
                  </a:moveTo>
                  <a:lnTo>
                    <a:pt x="372808" y="195580"/>
                  </a:lnTo>
                  <a:lnTo>
                    <a:pt x="372808" y="0"/>
                  </a:lnTo>
                  <a:lnTo>
                    <a:pt x="192036" y="0"/>
                  </a:lnTo>
                  <a:lnTo>
                    <a:pt x="192036" y="195580"/>
                  </a:lnTo>
                  <a:lnTo>
                    <a:pt x="0" y="195580"/>
                  </a:lnTo>
                  <a:lnTo>
                    <a:pt x="0" y="375920"/>
                  </a:lnTo>
                  <a:lnTo>
                    <a:pt x="192036" y="375920"/>
                  </a:lnTo>
                  <a:lnTo>
                    <a:pt x="192036" y="571500"/>
                  </a:lnTo>
                  <a:lnTo>
                    <a:pt x="372808" y="571500"/>
                  </a:lnTo>
                  <a:lnTo>
                    <a:pt x="372808" y="375920"/>
                  </a:lnTo>
                  <a:lnTo>
                    <a:pt x="564845" y="375920"/>
                  </a:lnTo>
                  <a:lnTo>
                    <a:pt x="564845" y="19558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95502" y="2363350"/>
              <a:ext cx="565150" cy="572135"/>
            </a:xfrm>
            <a:custGeom>
              <a:avLst/>
              <a:gdLst/>
              <a:ahLst/>
              <a:cxnLst/>
              <a:rect l="l" t="t" r="r" b="b"/>
              <a:pathLst>
                <a:path w="565150" h="572135">
                  <a:moveTo>
                    <a:pt x="0" y="195562"/>
                  </a:moveTo>
                  <a:lnTo>
                    <a:pt x="192034" y="195562"/>
                  </a:lnTo>
                  <a:lnTo>
                    <a:pt x="192034" y="0"/>
                  </a:lnTo>
                  <a:lnTo>
                    <a:pt x="372809" y="0"/>
                  </a:lnTo>
                  <a:lnTo>
                    <a:pt x="372809" y="195562"/>
                  </a:lnTo>
                  <a:lnTo>
                    <a:pt x="564843" y="195562"/>
                  </a:lnTo>
                  <a:lnTo>
                    <a:pt x="564843" y="376336"/>
                  </a:lnTo>
                  <a:lnTo>
                    <a:pt x="372809" y="376336"/>
                  </a:lnTo>
                  <a:lnTo>
                    <a:pt x="372809" y="571899"/>
                  </a:lnTo>
                  <a:lnTo>
                    <a:pt x="192034" y="571899"/>
                  </a:lnTo>
                  <a:lnTo>
                    <a:pt x="192034" y="376336"/>
                  </a:lnTo>
                  <a:lnTo>
                    <a:pt x="0" y="376336"/>
                  </a:lnTo>
                  <a:lnTo>
                    <a:pt x="0" y="19556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4725" y="3636013"/>
            <a:ext cx="6391910" cy="1195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91335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Courier New"/>
                <a:cs typeface="Courier New"/>
              </a:rPr>
              <a:t>$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packer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build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\</a:t>
            </a:r>
            <a:endParaRPr sz="1400">
              <a:latin typeface="Courier New"/>
              <a:cs typeface="Courier New"/>
            </a:endParaRPr>
          </a:p>
          <a:p>
            <a:pPr marL="1791335">
              <a:lnSpc>
                <a:spcPts val="1650"/>
              </a:lnSpc>
            </a:pPr>
            <a:r>
              <a:rPr sz="1400" spc="-10" dirty="0">
                <a:latin typeface="Courier New"/>
                <a:cs typeface="Courier New"/>
              </a:rPr>
              <a:t>-var-</a:t>
            </a:r>
            <a:r>
              <a:rPr sz="1400" dirty="0">
                <a:latin typeface="Courier New"/>
                <a:cs typeface="Courier New"/>
              </a:rPr>
              <a:t>file=packer/amazon/credentials.json</a:t>
            </a:r>
            <a:r>
              <a:rPr sz="1400" spc="-16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\</a:t>
            </a:r>
            <a:endParaRPr sz="1400">
              <a:latin typeface="Courier New"/>
              <a:cs typeface="Courier New"/>
            </a:endParaRPr>
          </a:p>
          <a:p>
            <a:pPr marL="1791335" marR="5080">
              <a:lnSpc>
                <a:spcPts val="1650"/>
              </a:lnSpc>
              <a:spcBef>
                <a:spcPts val="65"/>
              </a:spcBef>
            </a:pPr>
            <a:r>
              <a:rPr sz="1400" spc="-10" dirty="0">
                <a:latin typeface="Courier New"/>
                <a:cs typeface="Courier New"/>
              </a:rPr>
              <a:t>-var-</a:t>
            </a:r>
            <a:r>
              <a:rPr sz="1400" dirty="0">
                <a:latin typeface="Courier New"/>
                <a:cs typeface="Courier New"/>
              </a:rPr>
              <a:t>file=packer/amazon/variables.json</a:t>
            </a:r>
            <a:r>
              <a:rPr sz="1400" spc="-150" dirty="0"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\ </a:t>
            </a:r>
            <a:r>
              <a:rPr sz="1400" spc="-10" dirty="0">
                <a:latin typeface="Courier New"/>
                <a:cs typeface="Courier New"/>
              </a:rPr>
              <a:t>packer/amazon/ubuntu/frontend/base_ami.json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4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4"/>
              </a:rPr>
              <a:t>https://github.com/xserrat/company-infrastructure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65" dirty="0"/>
              <a:t> </a:t>
            </a:r>
            <a:r>
              <a:rPr dirty="0"/>
              <a:t>steps</a:t>
            </a:r>
            <a:r>
              <a:rPr spc="-60" dirty="0"/>
              <a:t> </a:t>
            </a:r>
            <a:r>
              <a:rPr dirty="0"/>
              <a:t>&gt;</a:t>
            </a:r>
            <a:r>
              <a:rPr spc="-70" dirty="0"/>
              <a:t> </a:t>
            </a:r>
            <a:r>
              <a:rPr dirty="0"/>
              <a:t>Ansible</a:t>
            </a:r>
            <a:r>
              <a:rPr spc="-60" dirty="0"/>
              <a:t> </a:t>
            </a:r>
            <a:r>
              <a:rPr dirty="0"/>
              <a:t>+</a:t>
            </a:r>
            <a:r>
              <a:rPr spc="-65" dirty="0"/>
              <a:t> </a:t>
            </a:r>
            <a:r>
              <a:rPr dirty="0"/>
              <a:t>Packer</a:t>
            </a:r>
            <a:r>
              <a:rPr spc="-65" dirty="0"/>
              <a:t> </a:t>
            </a:r>
            <a:r>
              <a:rPr dirty="0"/>
              <a:t>+</a:t>
            </a:r>
            <a:r>
              <a:rPr spc="-65" dirty="0"/>
              <a:t> </a:t>
            </a:r>
            <a:r>
              <a:rPr spc="-10" dirty="0"/>
              <a:t>Terraform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8141" y="1345210"/>
            <a:ext cx="6855972" cy="33759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2920</Words>
  <Application>Microsoft Macintosh PowerPoint</Application>
  <PresentationFormat>On-screen Show (16:9)</PresentationFormat>
  <Paragraphs>486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Arial</vt:lpstr>
      <vt:lpstr>Courier New</vt:lpstr>
      <vt:lpstr>Times New Roman</vt:lpstr>
      <vt:lpstr>Office Theme</vt:lpstr>
      <vt:lpstr>CONFIGURATION MANAGEMENT I</vt:lpstr>
      <vt:lpstr>PowerPoint Presentation</vt:lpstr>
      <vt:lpstr>Ansible &gt; Why do we need it?</vt:lpstr>
      <vt:lpstr>Ansible &gt; Remote machine requirements</vt:lpstr>
      <vt:lpstr>Ansible &gt; General overview</vt:lpstr>
      <vt:lpstr>Ansible &gt; Installation in the Controller Machine</vt:lpstr>
      <vt:lpstr>Ansible &gt; Directory Layout</vt:lpstr>
      <vt:lpstr>Ansible &gt; Directory Layout</vt:lpstr>
      <vt:lpstr>Ansible &gt; Playbook</vt:lpstr>
      <vt:lpstr>Ansible &gt; Playbook &gt; Play</vt:lpstr>
      <vt:lpstr>Ansible &gt; Playbook &gt; Example playbook_1.yml</vt:lpstr>
      <vt:lpstr>Ansible &gt; Playbook &gt; Execution</vt:lpstr>
      <vt:lpstr>Ansible &gt; Modules (Task or Library plugins)</vt:lpstr>
      <vt:lpstr>Ansible &gt; Modules &gt; template</vt:lpstr>
      <vt:lpstr>Ansible &gt; Modules &gt; template</vt:lpstr>
      <vt:lpstr>Ansible &gt; Handlers</vt:lpstr>
      <vt:lpstr>Ansible &gt; Handlers &gt; Example</vt:lpstr>
      <vt:lpstr>Ansible &gt; Roles &gt; Structure</vt:lpstr>
      <vt:lpstr>Ansible &gt; Roles &gt; Organizing tasks</vt:lpstr>
      <vt:lpstr>Ansible &gt; Roles &gt; Using roles in a Playbook</vt:lpstr>
      <vt:lpstr>Ansible &gt; Roles &gt; Dependencies</vt:lpstr>
      <vt:lpstr>Ansible &gt; Roles &gt; Dependencies &gt; Example</vt:lpstr>
      <vt:lpstr>Ansible &gt; Ansible Galaxy</vt:lpstr>
      <vt:lpstr>Ansible &gt; Ansible Galaxy &gt; Install external roles</vt:lpstr>
      <vt:lpstr>Ansible &gt; Ansible Galaxy &gt; Install external roles</vt:lpstr>
      <vt:lpstr>Ansible &gt; Gather facts</vt:lpstr>
      <vt:lpstr>Ansible &gt; Inventories</vt:lpstr>
      <vt:lpstr>Ansible &gt; Inventories &gt; Hosts and Groups</vt:lpstr>
      <vt:lpstr>Ansible &gt; Inventories &gt; Hosts and Groups</vt:lpstr>
      <vt:lpstr>Ansible &gt; Inventories &gt; Hosts and Groups</vt:lpstr>
      <vt:lpstr>Ansible &gt; Inventories &gt; Hosts and Groups</vt:lpstr>
      <vt:lpstr>Ansible &gt; Inventories &gt; Default Groups</vt:lpstr>
      <vt:lpstr>Ansible &gt; Variables</vt:lpstr>
      <vt:lpstr>Ansible &gt; Variables &gt; Inventories</vt:lpstr>
      <vt:lpstr>Ansible &gt; Variables &gt; Inventories</vt:lpstr>
      <vt:lpstr>Ansible &gt; Variables &gt; How ansible use them</vt:lpstr>
      <vt:lpstr>Ansible &gt; Variables &gt; Playbooks</vt:lpstr>
      <vt:lpstr>Ansible &gt; Variables &gt; Roles</vt:lpstr>
      <vt:lpstr>Ansible &gt; Variables &gt; Usage in a playbook</vt:lpstr>
      <vt:lpstr>Ansible &gt; Variables &gt; Usage in a playbook</vt:lpstr>
      <vt:lpstr>Ansible &gt; Variables &gt; Main Prioritization</vt:lpstr>
      <vt:lpstr>Ansible &gt; Tags</vt:lpstr>
      <vt:lpstr>Ansible &gt; Extras &gt; Dynamic Inventory</vt:lpstr>
      <vt:lpstr>Ansible &gt; Extras &gt; Ad-Hoc Commands</vt:lpstr>
      <vt:lpstr>Ansible &gt; Extras &gt; Ansible Container</vt:lpstr>
      <vt:lpstr>Ansible &gt; Extras &gt; IDE plugins</vt:lpstr>
      <vt:lpstr>Ansible &gt; Extras &gt; Best practices</vt:lpstr>
      <vt:lpstr>Ansible &gt; More examples</vt:lpstr>
      <vt:lpstr>PowerPoint Presentation</vt:lpstr>
      <vt:lpstr>Packer &gt; Why do we need it?</vt:lpstr>
      <vt:lpstr>Packer &gt; General overview</vt:lpstr>
      <vt:lpstr>Packer &gt; General overview &gt; Workflow</vt:lpstr>
      <vt:lpstr>Packer &gt; Builders</vt:lpstr>
      <vt:lpstr>Packer &gt; Builders &gt; Amazon EC2 AMI Builder</vt:lpstr>
      <vt:lpstr>Packer &gt; Builders &gt; Amazon EC2 AMI Builder</vt:lpstr>
      <vt:lpstr>Packer &gt; Provisioners</vt:lpstr>
      <vt:lpstr>Packer &gt; Provisioners &gt; Ansible Remote</vt:lpstr>
      <vt:lpstr>Packer &gt; Post-Processors</vt:lpstr>
      <vt:lpstr>Packer &gt; ami_template.json</vt:lpstr>
      <vt:lpstr>Packer &gt; Installation</vt:lpstr>
      <vt:lpstr>Packer &gt; Template execution</vt:lpstr>
      <vt:lpstr>Packer &gt; Best practices</vt:lpstr>
      <vt:lpstr>DEMO &gt; Build Amazon AMI with PHP installed</vt:lpstr>
      <vt:lpstr>Next steps &gt; Ansible + Packer + Terraform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AlDiab, Motasem -</cp:lastModifiedBy>
  <cp:revision>3</cp:revision>
  <dcterms:created xsi:type="dcterms:W3CDTF">2025-05-30T07:55:59Z</dcterms:created>
  <dcterms:modified xsi:type="dcterms:W3CDTF">2025-10-16T00:07:16Z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2025-05-30T00:00:00Z</vt:filetime>
  </property>
</Properties>
</file>